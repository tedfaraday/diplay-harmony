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'1.0' encoding='UTF-8' standalone='yes'?>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DiPlay Harmony 0.12.0 源码与公开说明。关联来源：https://github.com/shihabal3amri/DiPlay/tree/v0.2.12 。当前音频暂不可用，需保持应用前台。本公开版使用源代码图标，不含原始实机照片。</a:t>
            </a:r>
          </a:p>
          <a:p>
            <a:r>
              <a:t>内容依据：DiPlay Harmony 0.12.0 本地 README、开发状态与用户提供的实机截图。</a:t>
            </a:r>
          </a:p>
          <a:p>
            <a:r>
              <a:t>设计参考：https://github.com/material-components/material-web/blob/main/docs/theming/color.md</a:t>
            </a:r>
          </a:p>
          <a:p>
            <a:r>
              <a:t>线形图标：Google Material Symbols，Apache-2.0。https://github.com/google/material-design-icons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DiPlay Harmony 0.12.0 源码与公开说明。关联来源：https://github.com/shihabal3amri/DiPlay/tree/v0.2.12 。当前音频暂不可用，需保持应用前台。本公开版使用源代码图标，不含原始实机照片。</a:t>
            </a:r>
          </a:p>
          <a:p>
            <a:r>
              <a:t>内容依据：DiPlay Harmony 0.12.0 本地 README、开发状态与用户提供的实机截图。</a:t>
            </a:r>
          </a:p>
          <a:p>
            <a:r>
              <a:t>设计参考：https://github.com/material-components/material-web/blob/main/docs/theming/color.md</a:t>
            </a:r>
          </a:p>
          <a:p>
            <a:r>
              <a:t>线形图标：Google Material Symbols，Apache-2.0。https://github.com/google/material-design-icons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DiPlay Harmony 0.12.0 源码与公开说明。关联来源：https://github.com/shihabal3amri/DiPlay/tree/v0.2.12 。当前音频暂不可用，需保持应用前台。本公开版使用源代码图标，不含原始实机照片。</a:t>
            </a:r>
          </a:p>
          <a:p>
            <a:r>
              <a:t>内容依据：DiPlay Harmony 0.12.0 本地 README、开发状态与用户提供的实机截图。</a:t>
            </a:r>
          </a:p>
          <a:p>
            <a:r>
              <a:t>设计参考：https://github.com/material-components/material-web/blob/main/docs/theming/color.md</a:t>
            </a:r>
          </a:p>
          <a:p>
            <a:r>
              <a:t>线形图标：Google Material Symbols，Apache-2.0。https://github.com/google/material-design-icons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DiPlay Harmony 0.12.0 源码与公开说明。关联来源：https://github.com/shihabal3amri/DiPlay/tree/v0.2.12 。当前音频暂不可用，需保持应用前台。本公开版使用源代码图标，不含原始实机照片。</a:t>
            </a:r>
          </a:p>
          <a:p>
            <a:r>
              <a:t>内容依据：DiPlay Harmony 0.12.0 本地 README、开发状态与用户提供的实机截图。</a:t>
            </a:r>
          </a:p>
          <a:p>
            <a:r>
              <a:t>设计参考：https://github.com/material-components/material-web/blob/main/docs/theming/color.md</a:t>
            </a:r>
          </a:p>
          <a:p>
            <a:r>
              <a:t>线形图标：Google Material Symbols，Apache-2.0。https://github.com/google/material-design-icons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DiPlay Harmony 0.12.0 源码与公开说明。关联来源：https://github.com/shihabal3amri/DiPlay/tree/v0.2.12 。当前音频暂不可用，需保持应用前台。本公开版使用源代码图标，不含原始实机照片。</a:t>
            </a:r>
          </a:p>
          <a:p>
            <a:r>
              <a:t>内容依据：DiPlay Harmony 0.12.0 本地 README、开发状态与用户提供的实机截图。</a:t>
            </a:r>
          </a:p>
          <a:p>
            <a:r>
              <a:t>设计参考：https://github.com/material-components/material-web/blob/main/docs/theming/color.md</a:t>
            </a:r>
          </a:p>
          <a:p>
            <a:r>
              <a:t>线形图标：Google Material Symbols，Apache-2.0。https://github.com/google/material-design-icons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DiPlay Harmony 0.12.0 源码与公开说明。关联来源：https://github.com/shihabal3amri/DiPlay/tree/v0.2.12 。当前音频暂不可用，需保持应用前台。本公开版使用源代码图标，不含原始实机照片。</a:t>
            </a:r>
          </a:p>
          <a:p>
            <a:r>
              <a:t>内容依据：DiPlay Harmony 0.12.0 本地 README、开发状态与用户提供的实机截图。</a:t>
            </a:r>
          </a:p>
          <a:p>
            <a:r>
              <a:t>设计参考：https://github.com/material-components/material-web/blob/main/docs/theming/color.md</a:t>
            </a:r>
          </a:p>
          <a:p>
            <a:r>
              <a:t>线形图标：Google Material Symbols，Apache-2.0。https://github.com/google/material-design-icons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DiPlay Harmony 0.12.0 源码与公开说明。关联来源：https://github.com/shihabal3amri/DiPlay/tree/v0.2.12 。当前音频暂不可用，需保持应用前台。本公开版使用源代码图标，不含原始实机照片。</a:t>
            </a:r>
          </a:p>
          <a:p>
            <a:r>
              <a:t>内容依据：DiPlay Harmony 0.12.0 本地 README、开发状态与用户提供的实机截图。</a:t>
            </a:r>
          </a:p>
          <a:p>
            <a:r>
              <a:t>设计参考：https://github.com/material-components/material-web/blob/main/docs/theming/color.md</a:t>
            </a:r>
          </a:p>
          <a:p>
            <a:r>
              <a:t>线形图标：Google Material Symbols，Apache-2.0。https://github.com/google/material-design-icons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DiPlay Harmony 0.12.0 源码与公开说明。关联来源：https://github.com/shihabal3amri/DiPlay/tree/v0.2.12 。当前音频暂不可用，需保持应用前台。本公开版使用源代码图标，不含原始实机照片。</a:t>
            </a:r>
          </a:p>
          <a:p>
            <a:r>
              <a:t>内容依据：DiPlay Harmony 0.12.0 本地 README、开发状态与用户提供的实机截图。</a:t>
            </a:r>
          </a:p>
          <a:p>
            <a:r>
              <a:t>设计参考：https://github.com/material-components/material-web/blob/main/docs/theming/color.md</a:t>
            </a:r>
          </a:p>
          <a:p>
            <a:r>
              <a:t>线形图标：Google Material Symbols，Apache-2.0。https://github.com/google/material-design-icons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DiPlay Harmony 0.12.0 源码与公开说明。关联来源：https://github.com/shihabal3amri/DiPlay/tree/v0.2.12 。当前音频暂不可用，需保持应用前台。本公开版使用源代码图标，不含原始实机照片。</a:t>
            </a:r>
          </a:p>
          <a:p>
            <a:r>
              <a:t>内容依据：DiPlay Harmony 0.12.0 本地 README、开发状态与用户提供的实机截图。</a:t>
            </a:r>
          </a:p>
          <a:p>
            <a:r>
              <a:t>设计参考：https://github.com/material-components/material-web/blob/main/docs/theming/color.md</a:t>
            </a:r>
          </a:p>
          <a:p>
            <a:r>
              <a:t>线形图标：Google Material Symbols，Apache-2.0。https://github.com/google/material-design-icons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DiPlay Harmony 0.12.0 源码与公开说明。关联来源：https://github.com/shihabal3amri/DiPlay/tree/v0.2.12 。当前音频暂不可用，需保持应用前台。本公开版使用源代码图标，不含原始实机照片。</a:t>
            </a:r>
          </a:p>
          <a:p>
            <a:r>
              <a:t>内容依据：DiPlay Harmony 0.12.0 本地 README、开发状态与用户提供的实机截图。</a:t>
            </a:r>
          </a:p>
          <a:p>
            <a:r>
              <a:t>设计参考：https://github.com/material-components/material-web/blob/main/docs/theming/color.md</a:t>
            </a:r>
          </a:p>
          <a:p>
            <a:r>
              <a:t>线形图标：Google Material Symbols，Apache-2.0。https://github.com/google/material-design-icons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DiPlay Harmony 0.12.0 源码与公开说明。关联来源：https://github.com/shihabal3amri/DiPlay/tree/v0.2.12 。当前音频暂不可用，需保持应用前台。本公开版使用源代码图标，不含原始实机照片。</a:t>
            </a:r>
          </a:p>
          <a:p>
            <a:r>
              <a:t>内容依据：DiPlay Harmony 0.12.0 本地 README、开发状态与用户提供的实机截图。</a:t>
            </a:r>
          </a:p>
          <a:p>
            <a:r>
              <a:t>设计参考：https://github.com/material-components/material-web/blob/main/docs/theming/color.md</a:t>
            </a:r>
          </a:p>
          <a:p>
            <a:r>
              <a:t>线形图标：Google Material Symbols，Apache-2.0。https://github.com/google/material-design-icons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DiPlay Harmony 0.12.0 源码与公开说明。关联来源：https://github.com/shihabal3amri/DiPlay/tree/v0.2.12 。当前音频暂不可用，需保持应用前台。本公开版使用源代码图标，不含原始实机照片。</a:t>
            </a:r>
          </a:p>
          <a:p>
            <a:r>
              <a:t>内容依据：DiPlay Harmony 0.12.0 本地 README、开发状态与用户提供的实机截图。</a:t>
            </a:r>
          </a:p>
          <a:p>
            <a:r>
              <a:t>设计参考：https://github.com/material-components/material-web/blob/main/docs/theming/color.md</a:t>
            </a:r>
          </a:p>
          <a:p>
            <a:r>
              <a:t>线形图标：Google Material Symbols，Apache-2.0。https://github.com/google/material-design-icons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2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hoto-partition">
            <a:extLst>
              <a:ext uri="{FF2B5EF4-FFF2-40B4-BE49-F238E27FC236}">
                <a16:creationId xmlns:a16="http://schemas.microsoft.com/office/drawing/2014/main" id="{A233F2D9-291A-41F4-A65A-58F51C2A11A4}"/>
              </a:ext>
            </a:extLst>
          </p:cNvPr>
          <p:cNvSpPr>
            <a:spLocks noGrp="1"/>
          </p:cNvSpPr>
          <p:nvPr/>
        </p:nvSpPr>
        <p:spPr>
          <a:xfrm>
            <a:off x="4876800" y="0"/>
            <a:ext cx="7315200" cy="6858000"/>
          </a:xfrm>
          <a:prstGeom prst="rect">
            <a:avLst/>
          </a:prstGeom>
          <a:solidFill>
            <a:srgbClr val="1D1B20"/>
          </a:solidFill>
          <a:ln w="0">
            <a:noFill/>
          </a:ln>
        </p:spPr>
      </p:sp>
      <p:pic>
        <p:nvPicPr>
          <p:cNvPr id="10" name="brand-icon" descr="brand-icon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9600" y="552450"/>
            <a:ext cx="628650" cy="628650"/>
          </a:xfrm>
          <a:prstGeom prst="rect">
            <a:avLst/>
          </a:prstGeom>
        </p:spPr>
      </p:pic>
      <p:sp>
        <p:nvSpPr>
          <p:cNvPr id="3" name="hero-title">
            <a:extLst>
              <a:ext uri="{FF2B5EF4-FFF2-40B4-BE49-F238E27FC236}">
                <a16:creationId xmlns:a16="http://schemas.microsoft.com/office/drawing/2014/main" id="{6554813B-F20B-4EC3-9A18-9F12F2FE201A}"/>
              </a:ext>
            </a:extLst>
          </p:cNvPr>
          <p:cNvSpPr>
            <a:spLocks noGrp="1"/>
          </p:cNvSpPr>
          <p:nvPr/>
        </p:nvSpPr>
        <p:spPr>
          <a:xfrm>
            <a:off x="609600" y="1771650"/>
            <a:ext cx="4038600" cy="175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>
              <a:defRPr sz="5100" b="1">
                <a:solidFill>
                  <a:srgbClr val="E6E0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00" b="1">
                <a:solidFill>
                  <a:srgbClr val="E6E0E9"/>
                </a:solidFill>
                <a:latin typeface="Microsoft YaHei"/>
                <a:ea typeface="Microsoft YaHei"/>
                <a:cs typeface="Microsoft YaHei"/>
              </a:rPr>
              <a:t>DiPlay</a:t>
            </a:r>
          </a:p>
          <a:p>
            <a:pPr>
              <a:defRPr sz="5100" b="1">
                <a:solidFill>
                  <a:srgbClr val="E6E0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00" b="1">
                <a:solidFill>
                  <a:srgbClr val="E6E0E9"/>
                </a:solidFill>
                <a:latin typeface="Microsoft YaHei"/>
                <a:ea typeface="Microsoft YaHei"/>
                <a:cs typeface="Microsoft YaHei"/>
              </a:rPr>
              <a:t>Harmony</a:t>
            </a:r>
          </a:p>
        </p:txBody>
      </p:sp>
      <p:sp>
        <p:nvSpPr>
          <p:cNvPr id="4" name="hero-copy">
            <a:extLst>
              <a:ext uri="{FF2B5EF4-FFF2-40B4-BE49-F238E27FC236}">
                <a16:creationId xmlns:a16="http://schemas.microsoft.com/office/drawing/2014/main" id="{6BFBCA79-1EC0-4087-B6C0-27AA537CD3CC}"/>
              </a:ext>
            </a:extLst>
          </p:cNvPr>
          <p:cNvSpPr>
            <a:spLocks noGrp="1"/>
          </p:cNvSpPr>
          <p:nvPr/>
        </p:nvSpPr>
        <p:spPr>
          <a:xfrm>
            <a:off x="628650" y="4000500"/>
            <a:ext cx="4095750" cy="4762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>
              <a:defRPr sz="2175" b="0">
                <a:solidFill>
                  <a:srgbClr val="D0BC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D0BCFF"/>
                </a:solidFill>
                <a:latin typeface="Microsoft YaHei"/>
                <a:ea typeface="Microsoft YaHei"/>
                <a:cs typeface="Microsoft YaHei"/>
              </a:rPr>
              <a:t>平板上的无线 CarPlay</a:t>
            </a:r>
          </a:p>
        </p:txBody>
      </p:sp>
      <p:sp>
        <p:nvSpPr>
          <p:cNvPr id="5" name="version">
            <a:extLst>
              <a:ext uri="{FF2B5EF4-FFF2-40B4-BE49-F238E27FC236}">
                <a16:creationId xmlns:a16="http://schemas.microsoft.com/office/drawing/2014/main" id="{B9057383-BD98-4AAD-9F58-9E9AA6C9B668}"/>
              </a:ext>
            </a:extLst>
          </p:cNvPr>
          <p:cNvSpPr>
            <a:spLocks noGrp="1"/>
          </p:cNvSpPr>
          <p:nvPr/>
        </p:nvSpPr>
        <p:spPr>
          <a:xfrm>
            <a:off x="628650" y="5200650"/>
            <a:ext cx="3905250" cy="7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>
              <a:defRPr sz="1800" b="0">
                <a:solidFill>
                  <a:srgbClr val="CAC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CAC4D0"/>
                </a:solidFill>
                <a:latin typeface="Microsoft YaHei"/>
                <a:ea typeface="Microsoft YaHei"/>
                <a:cs typeface="Microsoft YaHei"/>
              </a:rPr>
              <a:t>HarmonyOS NEXT</a:t>
            </a:r>
          </a:p>
          <a:p>
            <a:pPr>
              <a:defRPr sz="1800" b="0">
                <a:solidFill>
                  <a:srgbClr val="CAC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CAC4D0"/>
                </a:solidFill>
                <a:latin typeface="Microsoft YaHei"/>
                <a:ea typeface="Microsoft YaHei"/>
                <a:cs typeface="Microsoft YaHei"/>
              </a:rPr>
              <a:t>0.12.0 产品预览版</a:t>
            </a:r>
          </a:p>
        </p:txBody>
      </p:sp>
      <p:pic>
        <p:nvPicPr>
          <p:cNvPr id="14" name="hero-device" descr="hero-device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200900" y="1371600"/>
            <a:ext cx="3048000" cy="3048000"/>
          </a:xfrm>
          <a:prstGeom prst="rect">
            <a:avLst/>
          </a:prstGeom>
        </p:spPr>
      </p:pic>
      <p:sp>
        <p:nvSpPr>
          <p:cNvPr id="7" name="hero-native">
            <a:extLst>
              <a:ext uri="{FF2B5EF4-FFF2-40B4-BE49-F238E27FC236}">
                <a16:creationId xmlns:a16="http://schemas.microsoft.com/office/drawing/2014/main" id="{BC095ED7-75BA-4748-8E5E-18CB7886FA3C}"/>
              </a:ext>
            </a:extLst>
          </p:cNvPr>
          <p:cNvSpPr>
            <a:spLocks noGrp="1"/>
          </p:cNvSpPr>
          <p:nvPr/>
        </p:nvSpPr>
        <p:spPr>
          <a:xfrm>
            <a:off x="5810250" y="4838700"/>
            <a:ext cx="5715000" cy="4953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>
              <a:defRPr sz="2250" b="1">
                <a:solidFill>
                  <a:srgbClr val="D0BC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D0BCFF"/>
                </a:solidFill>
                <a:latin typeface="Microsoft YaHei"/>
                <a:ea typeface="Microsoft YaHei"/>
                <a:cs typeface="Microsoft YaHei"/>
              </a:rPr>
              <a:t>原生 HarmonyOS NEXT</a:t>
            </a:r>
          </a:p>
        </p:txBody>
      </p:sp>
      <p:sp>
        <p:nvSpPr>
          <p:cNvPr id="8" name="hero-source">
            <a:extLst>
              <a:ext uri="{FF2B5EF4-FFF2-40B4-BE49-F238E27FC236}">
                <a16:creationId xmlns:a16="http://schemas.microsoft.com/office/drawing/2014/main" id="{F8A727C5-B050-44FB-90E0-A8D7BC254708}"/>
              </a:ext>
            </a:extLst>
          </p:cNvPr>
          <p:cNvSpPr>
            <a:spLocks noGrp="1"/>
          </p:cNvSpPr>
          <p:nvPr/>
        </p:nvSpPr>
        <p:spPr>
          <a:xfrm>
            <a:off x="5810250" y="5438775"/>
            <a:ext cx="57150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>
              <a:defRPr sz="1800" b="0">
                <a:solidFill>
                  <a:srgbClr val="CAC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CAC4D0"/>
                </a:solidFill>
                <a:latin typeface="Microsoft YaHei"/>
                <a:ea typeface="Microsoft YaHei"/>
                <a:cs typeface="Microsoft YaHei"/>
              </a:rPr>
              <a:t>基于 DiPlay 的独立移植</a:t>
            </a:r>
          </a:p>
        </p:txBody>
      </p:sp>
    </p:spTree>
    <p:extLst>
      <p:ext uri="{BB962C8B-B14F-4D97-AF65-F5344CB8AC3E}">
        <p14:creationId xmlns:p14="http://schemas.microsoft.com/office/powerpoint/2010/main" val="13648326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8000">
        <p:fade/>
      </p:transition>
    </mc:Choice>
    <mc:Fallback>
      <p:transition spd="med" advClick="0" advTm="8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8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8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8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42" presetClass="entr" presetSubtype="0" accel="50000" decel="5000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8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8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8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7" grpId="0"/>
      <p:bldP spid="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2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">
            <a:extLst>
              <a:ext uri="{FF2B5EF4-FFF2-40B4-BE49-F238E27FC236}">
                <a16:creationId xmlns:a16="http://schemas.microsoft.com/office/drawing/2014/main" id="{F3094F3C-AF50-4CF3-834F-837018D215EC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>
              <a:defRPr sz="3450" b="1">
                <a:solidFill>
                  <a:srgbClr val="E6E0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E6E0E9"/>
                </a:solidFill>
                <a:latin typeface="Microsoft YaHei"/>
                <a:ea typeface="Microsoft YaHei"/>
                <a:cs typeface="Microsoft YaHei"/>
              </a:rPr>
              <a:t>无线连接</a:t>
            </a:r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C3E5F29E-DDD7-450F-89B9-B40EC95A42FC}"/>
              </a:ext>
            </a:extLst>
          </p:cNvPr>
          <p:cNvSpPr>
            <a:spLocks noGrp="1"/>
          </p:cNvSpPr>
          <p:nvPr/>
        </p:nvSpPr>
        <p:spPr>
          <a:xfrm>
            <a:off x="609600" y="1238250"/>
            <a:ext cx="10934700" cy="4762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>
              <a:defRPr sz="1875" b="0">
                <a:solidFill>
                  <a:srgbClr val="CAC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CAC4D0"/>
                </a:solidFill>
                <a:latin typeface="Microsoft YaHei"/>
                <a:ea typeface="Microsoft YaHei"/>
                <a:cs typeface="Microsoft YaHei"/>
              </a:rPr>
              <a:t>蓝牙建立连接入口，平板热点传输画面与触控</a:t>
            </a:r>
          </a:p>
        </p:txBody>
      </p:sp>
      <p:sp>
        <p:nvSpPr>
          <p:cNvPr id="3" name="left-field">
            <a:extLst>
              <a:ext uri="{FF2B5EF4-FFF2-40B4-BE49-F238E27FC236}">
                <a16:creationId xmlns:a16="http://schemas.microsoft.com/office/drawing/2014/main" id="{D2196D49-DDC6-4326-809C-137196C658E7}"/>
              </a:ext>
            </a:extLst>
          </p:cNvPr>
          <p:cNvSpPr>
            <a:spLocks noGrp="1"/>
          </p:cNvSpPr>
          <p:nvPr/>
        </p:nvSpPr>
        <p:spPr>
          <a:xfrm>
            <a:off x="609600" y="2133600"/>
            <a:ext cx="5257800" cy="3810000"/>
          </a:xfrm>
          <a:prstGeom prst="rect">
            <a:avLst/>
          </a:prstGeom>
          <a:solidFill>
            <a:srgbClr val="1D1B20"/>
          </a:solidFill>
          <a:ln w="0">
            <a:noFill/>
          </a:ln>
        </p:spPr>
      </p:sp>
      <p:sp>
        <p:nvSpPr>
          <p:cNvPr id="4" name="right-field">
            <a:extLst>
              <a:ext uri="{FF2B5EF4-FFF2-40B4-BE49-F238E27FC236}">
                <a16:creationId xmlns:a16="http://schemas.microsoft.com/office/drawing/2014/main" id="{C63D41FE-5D76-4B24-A3DD-D7FE6679BB07}"/>
              </a:ext>
            </a:extLst>
          </p:cNvPr>
          <p:cNvSpPr>
            <a:spLocks noGrp="1"/>
          </p:cNvSpPr>
          <p:nvPr/>
        </p:nvSpPr>
        <p:spPr>
          <a:xfrm>
            <a:off x="6096000" y="2133600"/>
            <a:ext cx="5486400" cy="3810000"/>
          </a:xfrm>
          <a:prstGeom prst="rect">
            <a:avLst/>
          </a:prstGeom>
          <a:solidFill>
            <a:srgbClr val="211F26"/>
          </a:solidFill>
          <a:ln w="0">
            <a:noFill/>
          </a:ln>
        </p:spPr>
      </p:sp>
      <p:pic>
        <p:nvPicPr>
          <p:cNvPr id="19" name="iphone-icon" descr="iphone-icon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14400" y="2533650"/>
            <a:ext cx="1028700" cy="1028700"/>
          </a:xfrm>
          <a:prstGeom prst="rect">
            <a:avLst/>
          </a:prstGeom>
        </p:spPr>
      </p:pic>
      <p:sp>
        <p:nvSpPr>
          <p:cNvPr id="6" name="iphone-label">
            <a:extLst>
              <a:ext uri="{FF2B5EF4-FFF2-40B4-BE49-F238E27FC236}">
                <a16:creationId xmlns:a16="http://schemas.microsoft.com/office/drawing/2014/main" id="{29C0DBB8-1341-4CC9-97FB-533C2B2BF14D}"/>
              </a:ext>
            </a:extLst>
          </p:cNvPr>
          <p:cNvSpPr>
            <a:spLocks noGrp="1"/>
          </p:cNvSpPr>
          <p:nvPr/>
        </p:nvSpPr>
        <p:spPr>
          <a:xfrm>
            <a:off x="2152650" y="2686050"/>
            <a:ext cx="3143250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>
              <a:defRPr sz="3000" b="1">
                <a:solidFill>
                  <a:srgbClr val="E6E0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E6E0E9"/>
                </a:solidFill>
                <a:latin typeface="Microsoft YaHei"/>
                <a:ea typeface="Microsoft YaHei"/>
                <a:cs typeface="Microsoft YaHei"/>
              </a:rPr>
              <a:t>iPhone</a:t>
            </a:r>
          </a:p>
        </p:txBody>
      </p:sp>
      <p:pic>
        <p:nvPicPr>
          <p:cNvPr id="21" name="tablet-icon" descr="tablet-icon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419850" y="2533650"/>
            <a:ext cx="1066800" cy="1066800"/>
          </a:xfrm>
          <a:prstGeom prst="rect">
            <a:avLst/>
          </a:prstGeom>
        </p:spPr>
      </p:pic>
      <p:sp>
        <p:nvSpPr>
          <p:cNvPr id="8" name="tablet-label">
            <a:extLst>
              <a:ext uri="{FF2B5EF4-FFF2-40B4-BE49-F238E27FC236}">
                <a16:creationId xmlns:a16="http://schemas.microsoft.com/office/drawing/2014/main" id="{B060E8E6-CA80-4051-817A-01E9C7F4C40F}"/>
              </a:ext>
            </a:extLst>
          </p:cNvPr>
          <p:cNvSpPr>
            <a:spLocks noGrp="1"/>
          </p:cNvSpPr>
          <p:nvPr/>
        </p:nvSpPr>
        <p:spPr>
          <a:xfrm>
            <a:off x="7753350" y="2686050"/>
            <a:ext cx="3371850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>
              <a:defRPr sz="3000" b="1">
                <a:solidFill>
                  <a:srgbClr val="E6E0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E6E0E9"/>
                </a:solidFill>
                <a:latin typeface="Microsoft YaHei"/>
                <a:ea typeface="Microsoft YaHei"/>
                <a:cs typeface="Microsoft YaHei"/>
              </a:rPr>
              <a:t>鸿蒙平板</a:t>
            </a:r>
          </a:p>
        </p:txBody>
      </p:sp>
      <p:pic>
        <p:nvPicPr>
          <p:cNvPr id="23" name="bluetooth-icon" descr="bluetooth-icon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047750" y="3981450"/>
            <a:ext cx="571500" cy="571500"/>
          </a:xfrm>
          <a:prstGeom prst="rect">
            <a:avLst/>
          </a:prstGeom>
        </p:spPr>
      </p:pic>
      <p:sp>
        <p:nvSpPr>
          <p:cNvPr id="10" name="bluetooth-copy">
            <a:extLst>
              <a:ext uri="{FF2B5EF4-FFF2-40B4-BE49-F238E27FC236}">
                <a16:creationId xmlns:a16="http://schemas.microsoft.com/office/drawing/2014/main" id="{ECABF707-E0C5-4CF0-BF70-ABA28CFBA5EE}"/>
              </a:ext>
            </a:extLst>
          </p:cNvPr>
          <p:cNvSpPr>
            <a:spLocks noGrp="1"/>
          </p:cNvSpPr>
          <p:nvPr/>
        </p:nvSpPr>
        <p:spPr>
          <a:xfrm>
            <a:off x="1828800" y="4105275"/>
            <a:ext cx="352425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>
              <a:defRPr sz="2025" b="0">
                <a:solidFill>
                  <a:srgbClr val="CAC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CAC4D0"/>
                </a:solidFill>
                <a:latin typeface="Microsoft YaHei"/>
                <a:ea typeface="Microsoft YaHei"/>
                <a:cs typeface="Microsoft YaHei"/>
              </a:rPr>
              <a:t>完成系统蓝牙配对</a:t>
            </a:r>
          </a:p>
        </p:txBody>
      </p:sp>
      <p:pic>
        <p:nvPicPr>
          <p:cNvPr id="25" name="wifi-icon" descr="wifi-icon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6591300" y="3981450"/>
            <a:ext cx="571500" cy="571500"/>
          </a:xfrm>
          <a:prstGeom prst="rect">
            <a:avLst/>
          </a:prstGeom>
        </p:spPr>
      </p:pic>
      <p:sp>
        <p:nvSpPr>
          <p:cNvPr id="12" name="wifi-copy">
            <a:extLst>
              <a:ext uri="{FF2B5EF4-FFF2-40B4-BE49-F238E27FC236}">
                <a16:creationId xmlns:a16="http://schemas.microsoft.com/office/drawing/2014/main" id="{0E6527BD-FCBF-4C39-9746-4EF08AEA155B}"/>
              </a:ext>
            </a:extLst>
          </p:cNvPr>
          <p:cNvSpPr>
            <a:spLocks noGrp="1"/>
          </p:cNvSpPr>
          <p:nvPr/>
        </p:nvSpPr>
        <p:spPr>
          <a:xfrm>
            <a:off x="7372350" y="4105275"/>
            <a:ext cx="36195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>
              <a:defRPr sz="2025" b="0">
                <a:solidFill>
                  <a:srgbClr val="CAC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CAC4D0"/>
                </a:solidFill>
                <a:latin typeface="Microsoft YaHei"/>
                <a:ea typeface="Microsoft YaHei"/>
                <a:cs typeface="Microsoft YaHei"/>
              </a:rPr>
              <a:t>开启平板无线热点</a:t>
            </a:r>
          </a:p>
        </p:txBody>
      </p:sp>
      <p:sp>
        <p:nvSpPr>
          <p:cNvPr id="13" name="connection-detail">
            <a:extLst>
              <a:ext uri="{FF2B5EF4-FFF2-40B4-BE49-F238E27FC236}">
                <a16:creationId xmlns:a16="http://schemas.microsoft.com/office/drawing/2014/main" id="{F5D42043-9499-48E5-A318-4243CD2F4AD6}"/>
              </a:ext>
            </a:extLst>
          </p:cNvPr>
          <p:cNvSpPr>
            <a:spLocks noGrp="1"/>
          </p:cNvSpPr>
          <p:nvPr/>
        </p:nvSpPr>
        <p:spPr>
          <a:xfrm>
            <a:off x="914400" y="5172075"/>
            <a:ext cx="47244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>
              <a:defRPr sz="1725" b="0">
                <a:solidFill>
                  <a:srgbClr val="D0BC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0BCFF"/>
                </a:solidFill>
                <a:latin typeface="Microsoft YaHei"/>
                <a:ea typeface="Microsoft YaHei"/>
                <a:cs typeface="Microsoft YaHei"/>
              </a:rPr>
              <a:t>应用完成无线引导与加密会话</a:t>
            </a:r>
          </a:p>
        </p:txBody>
      </p:sp>
      <p:sp>
        <p:nvSpPr>
          <p:cNvPr id="14" name="connection-detail2">
            <a:extLst>
              <a:ext uri="{FF2B5EF4-FFF2-40B4-BE49-F238E27FC236}">
                <a16:creationId xmlns:a16="http://schemas.microsoft.com/office/drawing/2014/main" id="{FB905CC3-4CD3-4910-94A9-DB60C084BA5A}"/>
              </a:ext>
            </a:extLst>
          </p:cNvPr>
          <p:cNvSpPr>
            <a:spLocks noGrp="1"/>
          </p:cNvSpPr>
          <p:nvPr/>
        </p:nvSpPr>
        <p:spPr>
          <a:xfrm>
            <a:off x="6438900" y="5172075"/>
            <a:ext cx="47625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>
              <a:defRPr sz="1725" b="0">
                <a:solidFill>
                  <a:srgbClr val="D0BC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0BCFF"/>
                </a:solidFill>
                <a:latin typeface="Microsoft YaHei"/>
                <a:ea typeface="Microsoft YaHei"/>
                <a:cs typeface="Microsoft YaHei"/>
              </a:rPr>
              <a:t>接收画面，发送触控操作</a:t>
            </a:r>
          </a:p>
        </p:txBody>
      </p:sp>
    </p:spTree>
    <p:extLst>
      <p:ext uri="{BB962C8B-B14F-4D97-AF65-F5344CB8AC3E}">
        <p14:creationId xmlns:p14="http://schemas.microsoft.com/office/powerpoint/2010/main" val="12767563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10000">
        <p:fade/>
      </p:transition>
    </mc:Choice>
    <mc:Fallback>
      <p:transition spd="med" advClick="0" advTm="1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accel="50000" decel="5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accel="50000" decel="5000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8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8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8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2" presetClass="entr" presetSubtype="0" accel="50000" decel="5000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8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8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8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8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8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8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8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8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8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38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" grpId="0"/>
      <p:bldP spid="6" grpId="0"/>
      <p:bldP spid="8" grpId="0"/>
      <p:bldP spid="10" grpId="0"/>
      <p:bldP spid="12" grpId="0"/>
      <p:bldP spid="13" grpId="0"/>
      <p:bldP spid="1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2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>
            <a:extLst>
              <a:ext uri="{FF2B5EF4-FFF2-40B4-BE49-F238E27FC236}">
                <a16:creationId xmlns:a16="http://schemas.microsoft.com/office/drawing/2014/main" id="{8883A953-155D-4A37-896A-27D6914838DC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>
              <a:defRPr sz="3450" b="1">
                <a:solidFill>
                  <a:srgbClr val="E6E0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E6E0E9"/>
                </a:solidFill>
                <a:latin typeface="Microsoft YaHei"/>
                <a:ea typeface="Microsoft YaHei"/>
                <a:cs typeface="Microsoft YaHei"/>
              </a:rPr>
              <a:t>连接入口</a:t>
            </a:r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867E550B-F13B-4413-97B7-03D7982A27B0}"/>
              </a:ext>
            </a:extLst>
          </p:cNvPr>
          <p:cNvSpPr>
            <a:spLocks noGrp="1"/>
          </p:cNvSpPr>
          <p:nvPr/>
        </p:nvSpPr>
        <p:spPr>
          <a:xfrm>
            <a:off x="609600" y="1238250"/>
            <a:ext cx="10934700" cy="4762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>
              <a:defRPr sz="1875" b="0">
                <a:solidFill>
                  <a:srgbClr val="CAC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CAC4D0"/>
                </a:solidFill>
                <a:latin typeface="Microsoft YaHei"/>
                <a:ea typeface="Microsoft YaHei"/>
                <a:cs typeface="Microsoft YaHei"/>
              </a:rPr>
              <a:t>热点开启后，从首页连接 iPhone</a:t>
            </a:r>
          </a:p>
        </p:txBody>
      </p:sp>
      <p:sp>
        <p:nvSpPr>
          <p:cNvPr id="3" name="entry-label">
            <a:extLst>
              <a:ext uri="{FF2B5EF4-FFF2-40B4-BE49-F238E27FC236}">
                <a16:creationId xmlns:a16="http://schemas.microsoft.com/office/drawing/2014/main" id="{9E1CC67B-309D-445B-A5B0-577B0ED0B2BC}"/>
              </a:ext>
            </a:extLst>
          </p:cNvPr>
          <p:cNvSpPr>
            <a:spLocks noGrp="1"/>
          </p:cNvSpPr>
          <p:nvPr/>
        </p:nvSpPr>
        <p:spPr>
          <a:xfrm>
            <a:off x="609600" y="2495550"/>
            <a:ext cx="3238500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>
              <a:defRPr sz="2550" b="1">
                <a:solidFill>
                  <a:srgbClr val="D0BC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D0BCFF"/>
                </a:solidFill>
                <a:latin typeface="Microsoft YaHei"/>
                <a:ea typeface="Microsoft YaHei"/>
                <a:cs typeface="Microsoft YaHei"/>
              </a:rPr>
              <a:t>原生鸿蒙应用</a:t>
            </a:r>
          </a:p>
        </p:txBody>
      </p:sp>
      <p:sp>
        <p:nvSpPr>
          <p:cNvPr id="4" name="entry-copy">
            <a:extLst>
              <a:ext uri="{FF2B5EF4-FFF2-40B4-BE49-F238E27FC236}">
                <a16:creationId xmlns:a16="http://schemas.microsoft.com/office/drawing/2014/main" id="{A9BCE282-36CD-4863-8690-2B059DD5B8CD}"/>
              </a:ext>
            </a:extLst>
          </p:cNvPr>
          <p:cNvSpPr>
            <a:spLocks noGrp="1"/>
          </p:cNvSpPr>
          <p:nvPr/>
        </p:nvSpPr>
        <p:spPr>
          <a:xfrm>
            <a:off x="609600" y="3429000"/>
            <a:ext cx="3333750" cy="1524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>
              <a:defRPr sz="2025" b="0">
                <a:solidFill>
                  <a:srgbClr val="CAC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CAC4D0"/>
                </a:solidFill>
                <a:latin typeface="Microsoft YaHei"/>
                <a:ea typeface="Microsoft YaHei"/>
                <a:cs typeface="Microsoft YaHei"/>
              </a:rPr>
              <a:t>连接状态直接可见</a:t>
            </a:r>
          </a:p>
          <a:p>
            <a:pPr>
              <a:defRPr sz="2025" b="0">
                <a:solidFill>
                  <a:srgbClr val="CAC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CAC4D0"/>
                </a:solidFill>
                <a:latin typeface="Microsoft YaHei"/>
                <a:ea typeface="Microsoft YaHei"/>
                <a:cs typeface="Microsoft YaHei"/>
              </a:rPr>
              <a:t>常用入口保持简洁</a:t>
            </a:r>
          </a:p>
          <a:p>
            <a:pPr>
              <a:defRPr sz="2025" b="0">
                <a:solidFill>
                  <a:srgbClr val="CAC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CAC4D0"/>
                </a:solidFill>
                <a:latin typeface="Microsoft YaHei"/>
                <a:ea typeface="Microsoft YaHei"/>
                <a:cs typeface="Microsoft YaHei"/>
              </a:rPr>
              <a:t>配置保存于本机</a:t>
            </a:r>
          </a:p>
        </p:txBody>
      </p:sp>
      <p:pic>
        <p:nvPicPr>
          <p:cNvPr id="12" name="entry-screenshot" descr="entry-screenshot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48375" y="2428875"/>
            <a:ext cx="2286000" cy="2286000"/>
          </a:xfrm>
          <a:prstGeom prst="rect">
            <a:avLst/>
          </a:prstGeom>
        </p:spPr>
      </p:pic>
      <p:sp>
        <p:nvSpPr>
          <p:cNvPr id="6" name="entry-public-1">
            <a:extLst>
              <a:ext uri="{FF2B5EF4-FFF2-40B4-BE49-F238E27FC236}">
                <a16:creationId xmlns:a16="http://schemas.microsoft.com/office/drawing/2014/main" id="{47CD8235-F2CD-499B-B618-CE4BAB81A586}"/>
              </a:ext>
            </a:extLst>
          </p:cNvPr>
          <p:cNvSpPr>
            <a:spLocks noGrp="1"/>
          </p:cNvSpPr>
          <p:nvPr/>
        </p:nvSpPr>
        <p:spPr>
          <a:xfrm>
            <a:off x="6191250" y="4953000"/>
            <a:ext cx="4762500" cy="4953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>
              <a:defRPr sz="2325" b="1">
                <a:solidFill>
                  <a:srgbClr val="D0BC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D0BCFF"/>
                </a:solidFill>
                <a:latin typeface="Microsoft YaHei"/>
                <a:ea typeface="Microsoft YaHei"/>
                <a:cs typeface="Microsoft YaHei"/>
              </a:rPr>
              <a:t>选择 iPhone</a:t>
            </a:r>
          </a:p>
        </p:txBody>
      </p:sp>
      <p:sp>
        <p:nvSpPr>
          <p:cNvPr id="7" name="entry-public-2">
            <a:extLst>
              <a:ext uri="{FF2B5EF4-FFF2-40B4-BE49-F238E27FC236}">
                <a16:creationId xmlns:a16="http://schemas.microsoft.com/office/drawing/2014/main" id="{9674DB3C-5985-40C9-89B9-EFD670425723}"/>
              </a:ext>
            </a:extLst>
          </p:cNvPr>
          <p:cNvSpPr>
            <a:spLocks noGrp="1"/>
          </p:cNvSpPr>
          <p:nvPr/>
        </p:nvSpPr>
        <p:spPr>
          <a:xfrm>
            <a:off x="6191250" y="5562600"/>
            <a:ext cx="47625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>
              <a:defRPr sz="2025" b="0">
                <a:solidFill>
                  <a:srgbClr val="CAC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CAC4D0"/>
                </a:solidFill>
                <a:latin typeface="Microsoft YaHei"/>
                <a:ea typeface="Microsoft YaHei"/>
                <a:cs typeface="Microsoft YaHei"/>
              </a:rPr>
              <a:t>保存配置后连接</a:t>
            </a:r>
          </a:p>
        </p:txBody>
      </p:sp>
    </p:spTree>
    <p:extLst>
      <p:ext uri="{BB962C8B-B14F-4D97-AF65-F5344CB8AC3E}">
        <p14:creationId xmlns:p14="http://schemas.microsoft.com/office/powerpoint/2010/main" val="16548106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9000">
        <p:fade/>
      </p:transition>
    </mc:Choice>
    <mc:Fallback>
      <p:transition spd="med" advClick="0" advTm="9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accel="50000" decel="5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8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8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8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3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" grpId="0"/>
      <p:bldP spid="3" grpId="0"/>
      <p:bldP spid="4" grpId="0"/>
      <p:bldP spid="6" grpId="0"/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2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">
            <a:extLst>
              <a:ext uri="{FF2B5EF4-FFF2-40B4-BE49-F238E27FC236}">
                <a16:creationId xmlns:a16="http://schemas.microsoft.com/office/drawing/2014/main" id="{8EF98B64-DE50-41E2-AE66-E1960506DCA0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>
              <a:defRPr sz="3450" b="1">
                <a:solidFill>
                  <a:srgbClr val="E6E0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E6E0E9"/>
                </a:solidFill>
                <a:latin typeface="Microsoft YaHei"/>
                <a:ea typeface="Microsoft YaHei"/>
                <a:cs typeface="Microsoft YaHei"/>
              </a:rPr>
              <a:t>单指触控</a:t>
            </a:r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593E27D6-3CB1-4BA3-8963-153F1489C6C5}"/>
              </a:ext>
            </a:extLst>
          </p:cNvPr>
          <p:cNvSpPr>
            <a:spLocks noGrp="1"/>
          </p:cNvSpPr>
          <p:nvPr/>
        </p:nvSpPr>
        <p:spPr>
          <a:xfrm>
            <a:off x="609600" y="1238250"/>
            <a:ext cx="10934700" cy="4762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>
              <a:defRPr sz="1875" b="0">
                <a:solidFill>
                  <a:srgbClr val="CAC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CAC4D0"/>
                </a:solidFill>
                <a:latin typeface="Microsoft YaHei"/>
                <a:ea typeface="Microsoft YaHei"/>
                <a:cs typeface="Microsoft YaHei"/>
              </a:rPr>
              <a:t>在平板上点按和拖动 CarPlay 界面</a:t>
            </a:r>
          </a:p>
        </p:txBody>
      </p:sp>
      <p:pic>
        <p:nvPicPr>
          <p:cNvPr id="11" name="touch-photo" descr="touch-phot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667000" y="2362200"/>
            <a:ext cx="2095500" cy="2095500"/>
          </a:xfrm>
          <a:prstGeom prst="rect">
            <a:avLst/>
          </a:prstGeom>
        </p:spPr>
      </p:pic>
      <p:sp>
        <p:nvSpPr>
          <p:cNvPr id="4" name="touch-public">
            <a:extLst>
              <a:ext uri="{FF2B5EF4-FFF2-40B4-BE49-F238E27FC236}">
                <a16:creationId xmlns:a16="http://schemas.microsoft.com/office/drawing/2014/main" id="{40A32EF3-94D0-49F7-8A19-C8EA96449DF1}"/>
              </a:ext>
            </a:extLst>
          </p:cNvPr>
          <p:cNvSpPr>
            <a:spLocks noGrp="1"/>
          </p:cNvSpPr>
          <p:nvPr/>
        </p:nvSpPr>
        <p:spPr>
          <a:xfrm>
            <a:off x="1219200" y="5010150"/>
            <a:ext cx="6896100" cy="590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>
              <a:defRPr sz="2850" b="1">
                <a:solidFill>
                  <a:srgbClr val="D0BC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D0BCFF"/>
                </a:solidFill>
                <a:latin typeface="Microsoft YaHei"/>
                <a:ea typeface="Microsoft YaHei"/>
                <a:cs typeface="Microsoft YaHei"/>
              </a:rPr>
              <a:t>画面与触控双向连接</a:t>
            </a:r>
          </a:p>
        </p:txBody>
      </p:sp>
      <p:sp>
        <p:nvSpPr>
          <p:cNvPr id="5" name="touch-public-copy">
            <a:extLst>
              <a:ext uri="{FF2B5EF4-FFF2-40B4-BE49-F238E27FC236}">
                <a16:creationId xmlns:a16="http://schemas.microsoft.com/office/drawing/2014/main" id="{7D519F58-D04E-4FBD-ABFF-B66A2A0EE45F}"/>
              </a:ext>
            </a:extLst>
          </p:cNvPr>
          <p:cNvSpPr>
            <a:spLocks noGrp="1"/>
          </p:cNvSpPr>
          <p:nvPr/>
        </p:nvSpPr>
        <p:spPr>
          <a:xfrm>
            <a:off x="1219200" y="5743575"/>
            <a:ext cx="68961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>
              <a:defRPr sz="1950" b="0">
                <a:solidFill>
                  <a:srgbClr val="CAC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CAC4D0"/>
                </a:solidFill>
                <a:latin typeface="Microsoft YaHei"/>
                <a:ea typeface="Microsoft YaHei"/>
                <a:cs typeface="Microsoft YaHei"/>
              </a:rPr>
              <a:t>已在原生鸿蒙平板上验证</a:t>
            </a:r>
          </a:p>
        </p:txBody>
      </p:sp>
      <p:pic>
        <p:nvPicPr>
          <p:cNvPr id="14" name="touch-icon" descr="touch-icon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315450" y="2457450"/>
            <a:ext cx="1200150" cy="1200150"/>
          </a:xfrm>
          <a:prstGeom prst="rect">
            <a:avLst/>
          </a:prstGeom>
        </p:spPr>
      </p:pic>
      <p:sp>
        <p:nvSpPr>
          <p:cNvPr id="7" name="touch-label">
            <a:extLst>
              <a:ext uri="{FF2B5EF4-FFF2-40B4-BE49-F238E27FC236}">
                <a16:creationId xmlns:a16="http://schemas.microsoft.com/office/drawing/2014/main" id="{C73DB435-0BCC-472D-B8DB-F8DB2D936B4D}"/>
              </a:ext>
            </a:extLst>
          </p:cNvPr>
          <p:cNvSpPr>
            <a:spLocks noGrp="1"/>
          </p:cNvSpPr>
          <p:nvPr/>
        </p:nvSpPr>
        <p:spPr>
          <a:xfrm>
            <a:off x="8896350" y="3924300"/>
            <a:ext cx="2838450" cy="60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>
              <a:defRPr sz="2550" b="1">
                <a:solidFill>
                  <a:srgbClr val="D0BC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D0BCFF"/>
                </a:solidFill>
                <a:latin typeface="Microsoft YaHei"/>
                <a:ea typeface="Microsoft YaHei"/>
                <a:cs typeface="Microsoft YaHei"/>
              </a:rPr>
              <a:t>点按与拖动</a:t>
            </a:r>
          </a:p>
        </p:txBody>
      </p:sp>
      <p:sp>
        <p:nvSpPr>
          <p:cNvPr id="8" name="touch-copy">
            <a:extLst>
              <a:ext uri="{FF2B5EF4-FFF2-40B4-BE49-F238E27FC236}">
                <a16:creationId xmlns:a16="http://schemas.microsoft.com/office/drawing/2014/main" id="{B5996CDC-2BB0-489D-83AB-995C74662D83}"/>
              </a:ext>
            </a:extLst>
          </p:cNvPr>
          <p:cNvSpPr>
            <a:spLocks noGrp="1"/>
          </p:cNvSpPr>
          <p:nvPr/>
        </p:nvSpPr>
        <p:spPr>
          <a:xfrm>
            <a:off x="8896350" y="4733925"/>
            <a:ext cx="2857500" cy="1009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>
              <a:defRPr sz="1875" b="0">
                <a:solidFill>
                  <a:srgbClr val="CAC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CAC4D0"/>
                </a:solidFill>
                <a:latin typeface="Microsoft YaHei"/>
                <a:ea typeface="Microsoft YaHei"/>
                <a:cs typeface="Microsoft YaHei"/>
              </a:rPr>
              <a:t>操作地图和应用界面</a:t>
            </a:r>
          </a:p>
          <a:p>
            <a:pPr>
              <a:defRPr sz="1875" b="0">
                <a:solidFill>
                  <a:srgbClr val="CAC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CAC4D0"/>
                </a:solidFill>
                <a:latin typeface="Microsoft YaHei"/>
                <a:ea typeface="Microsoft YaHei"/>
                <a:cs typeface="Microsoft YaHei"/>
              </a:rPr>
              <a:t>触点映射到视频坐标</a:t>
            </a:r>
          </a:p>
        </p:txBody>
      </p:sp>
    </p:spTree>
    <p:extLst>
      <p:ext uri="{BB962C8B-B14F-4D97-AF65-F5344CB8AC3E}">
        <p14:creationId xmlns:p14="http://schemas.microsoft.com/office/powerpoint/2010/main" val="9577874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9000">
        <p:fade/>
      </p:transition>
    </mc:Choice>
    <mc:Fallback>
      <p:transition spd="med" advClick="0" advTm="9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accel="50000" decel="5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8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8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8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entr" presetSubtype="0" accel="50000" decel="5000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8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8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8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31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2" grpId="0"/>
      <p:bldP spid="4" grpId="0"/>
      <p:bldP spid="5" grpId="0"/>
      <p:bldP spid="7" grpId="0"/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2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>
            <a:extLst>
              <a:ext uri="{FF2B5EF4-FFF2-40B4-BE49-F238E27FC236}">
                <a16:creationId xmlns:a16="http://schemas.microsoft.com/office/drawing/2014/main" id="{4AB36636-A575-4A66-84E0-918994A7059B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>
              <a:defRPr sz="3450" b="1">
                <a:solidFill>
                  <a:srgbClr val="E6E0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E6E0E9"/>
                </a:solidFill>
                <a:latin typeface="Microsoft YaHei"/>
                <a:ea typeface="Microsoft YaHei"/>
                <a:cs typeface="Microsoft YaHei"/>
              </a:rPr>
              <a:t>沉浸全屏</a:t>
            </a:r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7C761AA5-5AC6-4EF8-88DF-4161F058816F}"/>
              </a:ext>
            </a:extLst>
          </p:cNvPr>
          <p:cNvSpPr>
            <a:spLocks noGrp="1"/>
          </p:cNvSpPr>
          <p:nvPr/>
        </p:nvSpPr>
        <p:spPr>
          <a:xfrm>
            <a:off x="609600" y="1238250"/>
            <a:ext cx="10934700" cy="4762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>
              <a:defRPr sz="1875" b="0">
                <a:solidFill>
                  <a:srgbClr val="CAC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CAC4D0"/>
                </a:solidFill>
                <a:latin typeface="Microsoft YaHei"/>
                <a:ea typeface="Microsoft YaHei"/>
                <a:cs typeface="Microsoft YaHei"/>
              </a:rPr>
              <a:t>CarPlay 全屏只保留画面</a:t>
            </a:r>
          </a:p>
        </p:txBody>
      </p:sp>
      <p:sp>
        <p:nvSpPr>
          <p:cNvPr id="3" name="fullscreen-copy">
            <a:extLst>
              <a:ext uri="{FF2B5EF4-FFF2-40B4-BE49-F238E27FC236}">
                <a16:creationId xmlns:a16="http://schemas.microsoft.com/office/drawing/2014/main" id="{651C6C4F-C2A5-4C8F-B08B-B7EF8AD0CF64}"/>
              </a:ext>
            </a:extLst>
          </p:cNvPr>
          <p:cNvSpPr>
            <a:spLocks noGrp="1"/>
          </p:cNvSpPr>
          <p:nvPr/>
        </p:nvSpPr>
        <p:spPr>
          <a:xfrm>
            <a:off x="609600" y="2676525"/>
            <a:ext cx="3429000" cy="1714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>
              <a:defRPr sz="2250" b="0">
                <a:solidFill>
                  <a:srgbClr val="E6E0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E6E0E9"/>
                </a:solidFill>
                <a:latin typeface="Microsoft YaHei"/>
                <a:ea typeface="Microsoft YaHei"/>
                <a:cs typeface="Microsoft YaHei"/>
              </a:rPr>
              <a:t>隐藏应用工具栏</a:t>
            </a:r>
          </a:p>
          <a:p>
            <a:pPr>
              <a:defRPr sz="2250" b="0">
                <a:solidFill>
                  <a:srgbClr val="E6E0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E6E0E9"/>
                </a:solidFill>
                <a:latin typeface="Microsoft YaHei"/>
                <a:ea typeface="Microsoft YaHei"/>
                <a:cs typeface="Microsoft YaHei"/>
              </a:rPr>
              <a:t>隐藏状态栏</a:t>
            </a:r>
          </a:p>
          <a:p>
            <a:pPr>
              <a:defRPr sz="2250" b="0">
                <a:solidFill>
                  <a:srgbClr val="E6E0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E6E0E9"/>
                </a:solidFill>
                <a:latin typeface="Microsoft YaHei"/>
                <a:ea typeface="Microsoft YaHei"/>
                <a:cs typeface="Microsoft YaHei"/>
              </a:rPr>
              <a:t>隐藏导航指示条</a:t>
            </a:r>
          </a:p>
        </p:txBody>
      </p:sp>
      <p:sp>
        <p:nvSpPr>
          <p:cNvPr id="4" name="fullscreen-note">
            <a:extLst>
              <a:ext uri="{FF2B5EF4-FFF2-40B4-BE49-F238E27FC236}">
                <a16:creationId xmlns:a16="http://schemas.microsoft.com/office/drawing/2014/main" id="{8449F09C-6715-418F-98F0-251C021D8CAF}"/>
              </a:ext>
            </a:extLst>
          </p:cNvPr>
          <p:cNvSpPr>
            <a:spLocks noGrp="1"/>
          </p:cNvSpPr>
          <p:nvPr/>
        </p:nvSpPr>
        <p:spPr>
          <a:xfrm>
            <a:off x="609600" y="4962525"/>
            <a:ext cx="3448050" cy="952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>
              <a:defRPr sz="1875" b="0">
                <a:solidFill>
                  <a:srgbClr val="D0BC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D0BCFF"/>
                </a:solidFill>
                <a:latin typeface="Microsoft YaHei"/>
                <a:ea typeface="Microsoft YaHei"/>
                <a:cs typeface="Microsoft YaHei"/>
              </a:rPr>
              <a:t>退出全屏后，应用页面</a:t>
            </a:r>
          </a:p>
          <a:p>
            <a:pPr>
              <a:defRPr sz="1875" b="0">
                <a:solidFill>
                  <a:srgbClr val="D0BC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D0BCFF"/>
                </a:solidFill>
                <a:latin typeface="Microsoft YaHei"/>
                <a:ea typeface="Microsoft YaHei"/>
                <a:cs typeface="Microsoft YaHei"/>
              </a:rPr>
              <a:t>仍保持沉浸显示</a:t>
            </a:r>
          </a:p>
        </p:txBody>
      </p:sp>
      <p:pic>
        <p:nvPicPr>
          <p:cNvPr id="11" name="fullscreen-photo" descr="fullscreen-phot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934200" y="2447925"/>
            <a:ext cx="2171700" cy="2171700"/>
          </a:xfrm>
          <a:prstGeom prst="rect">
            <a:avLst/>
          </a:prstGeom>
        </p:spPr>
      </p:pic>
      <p:sp>
        <p:nvSpPr>
          <p:cNvPr id="6" name="fullscreen-public">
            <a:extLst>
              <a:ext uri="{FF2B5EF4-FFF2-40B4-BE49-F238E27FC236}">
                <a16:creationId xmlns:a16="http://schemas.microsoft.com/office/drawing/2014/main" id="{B41A9657-6D4C-4FFA-93A9-97B8404AE08A}"/>
              </a:ext>
            </a:extLst>
          </p:cNvPr>
          <p:cNvSpPr>
            <a:spLocks noGrp="1"/>
          </p:cNvSpPr>
          <p:nvPr/>
        </p:nvSpPr>
        <p:spPr>
          <a:xfrm>
            <a:off x="5486400" y="5238750"/>
            <a:ext cx="5953125" cy="5143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>
              <a:defRPr sz="2325" b="1">
                <a:solidFill>
                  <a:srgbClr val="D0BC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D0BCFF"/>
                </a:solidFill>
                <a:latin typeface="Microsoft YaHei"/>
                <a:ea typeface="Microsoft YaHei"/>
                <a:cs typeface="Microsoft YaHei"/>
              </a:rPr>
              <a:t>三指下滑唤出控制</a:t>
            </a:r>
          </a:p>
        </p:txBody>
      </p:sp>
    </p:spTree>
    <p:extLst>
      <p:ext uri="{BB962C8B-B14F-4D97-AF65-F5344CB8AC3E}">
        <p14:creationId xmlns:p14="http://schemas.microsoft.com/office/powerpoint/2010/main" val="8134714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9000">
        <p:fade/>
      </p:transition>
    </mc:Choice>
    <mc:Fallback>
      <p:transition spd="med" advClick="0" advTm="9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accel="50000" decel="5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8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8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8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entr" presetSubtype="0" accel="50000" decel="5000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32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37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" grpId="0"/>
      <p:bldP spid="3" grpId="0"/>
      <p:bldP spid="4" grpId="0"/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2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>
            <a:extLst>
              <a:ext uri="{FF2B5EF4-FFF2-40B4-BE49-F238E27FC236}">
                <a16:creationId xmlns:a16="http://schemas.microsoft.com/office/drawing/2014/main" id="{6D969FDB-BB72-4E20-892E-E487D12A84AF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>
              <a:defRPr sz="3450" b="1">
                <a:solidFill>
                  <a:srgbClr val="E6E0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E6E0E9"/>
                </a:solidFill>
                <a:latin typeface="Microsoft YaHei"/>
                <a:ea typeface="Microsoft YaHei"/>
                <a:cs typeface="Microsoft YaHei"/>
              </a:rPr>
              <a:t>三指下滑</a:t>
            </a:r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1A914382-01F4-4589-A12D-2AE97AD28939}"/>
              </a:ext>
            </a:extLst>
          </p:cNvPr>
          <p:cNvSpPr>
            <a:spLocks noGrp="1"/>
          </p:cNvSpPr>
          <p:nvPr/>
        </p:nvSpPr>
        <p:spPr>
          <a:xfrm>
            <a:off x="609600" y="1238250"/>
            <a:ext cx="10934700" cy="4762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>
              <a:defRPr sz="1875" b="0">
                <a:solidFill>
                  <a:srgbClr val="CAC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CAC4D0"/>
                </a:solidFill>
                <a:latin typeface="Microsoft YaHei"/>
                <a:ea typeface="Microsoft YaHei"/>
                <a:cs typeface="Microsoft YaHei"/>
              </a:rPr>
              <a:t>需要退出时，再唤出控制面板</a:t>
            </a:r>
          </a:p>
        </p:txBody>
      </p:sp>
      <p:sp>
        <p:nvSpPr>
          <p:cNvPr id="3" name="gesture-partition">
            <a:extLst>
              <a:ext uri="{FF2B5EF4-FFF2-40B4-BE49-F238E27FC236}">
                <a16:creationId xmlns:a16="http://schemas.microsoft.com/office/drawing/2014/main" id="{3546F467-73A1-4428-9D21-6666F76C0303}"/>
              </a:ext>
            </a:extLst>
          </p:cNvPr>
          <p:cNvSpPr>
            <a:spLocks noGrp="1"/>
          </p:cNvSpPr>
          <p:nvPr/>
        </p:nvSpPr>
        <p:spPr>
          <a:xfrm>
            <a:off x="609600" y="2152650"/>
            <a:ext cx="3829050" cy="3962400"/>
          </a:xfrm>
          <a:prstGeom prst="rect">
            <a:avLst/>
          </a:prstGeom>
          <a:solidFill>
            <a:srgbClr val="211F26"/>
          </a:solidFill>
          <a:ln w="0">
            <a:noFill/>
          </a:ln>
        </p:spPr>
      </p:sp>
      <p:sp>
        <p:nvSpPr>
          <p:cNvPr id="4" name="finger-count">
            <a:extLst>
              <a:ext uri="{FF2B5EF4-FFF2-40B4-BE49-F238E27FC236}">
                <a16:creationId xmlns:a16="http://schemas.microsoft.com/office/drawing/2014/main" id="{D17F6F8F-BD6A-403F-9A92-37AEA568E1DA}"/>
              </a:ext>
            </a:extLst>
          </p:cNvPr>
          <p:cNvSpPr>
            <a:spLocks noGrp="1"/>
          </p:cNvSpPr>
          <p:nvPr/>
        </p:nvSpPr>
        <p:spPr>
          <a:xfrm>
            <a:off x="1066800" y="2324100"/>
            <a:ext cx="2076450" cy="2324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>
              <a:defRPr sz="13200" b="1">
                <a:solidFill>
                  <a:srgbClr val="D0BC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200" b="1">
                <a:solidFill>
                  <a:srgbClr val="D0BC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pic>
        <p:nvPicPr>
          <p:cNvPr id="15" name="swipe-icon" descr="swipe-icon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943225" y="3362325"/>
            <a:ext cx="1123950" cy="1123950"/>
          </a:xfrm>
          <a:prstGeom prst="rect">
            <a:avLst/>
          </a:prstGeom>
        </p:spPr>
      </p:pic>
      <p:sp>
        <p:nvSpPr>
          <p:cNvPr id="6" name="gesture-steps">
            <a:extLst>
              <a:ext uri="{FF2B5EF4-FFF2-40B4-BE49-F238E27FC236}">
                <a16:creationId xmlns:a16="http://schemas.microsoft.com/office/drawing/2014/main" id="{AAC8C74D-4DBD-4D6E-8912-412FC53326BB}"/>
              </a:ext>
            </a:extLst>
          </p:cNvPr>
          <p:cNvSpPr>
            <a:spLocks noGrp="1"/>
          </p:cNvSpPr>
          <p:nvPr/>
        </p:nvSpPr>
        <p:spPr>
          <a:xfrm>
            <a:off x="781050" y="5076825"/>
            <a:ext cx="34290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>
              <a:defRPr sz="1875" b="0">
                <a:solidFill>
                  <a:srgbClr val="CAC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CAC4D0"/>
                </a:solidFill>
                <a:latin typeface="Microsoft YaHei"/>
                <a:ea typeface="Microsoft YaHei"/>
                <a:cs typeface="Microsoft YaHei"/>
              </a:rPr>
              <a:t>三根手指同时向下滑动</a:t>
            </a:r>
          </a:p>
        </p:txBody>
      </p:sp>
      <p:sp>
        <p:nvSpPr>
          <p:cNvPr id="7" name="continue-title">
            <a:extLst>
              <a:ext uri="{FF2B5EF4-FFF2-40B4-BE49-F238E27FC236}">
                <a16:creationId xmlns:a16="http://schemas.microsoft.com/office/drawing/2014/main" id="{B7818F04-5705-4B7A-AF71-E5E0A4916F8F}"/>
              </a:ext>
            </a:extLst>
          </p:cNvPr>
          <p:cNvSpPr>
            <a:spLocks noGrp="1"/>
          </p:cNvSpPr>
          <p:nvPr/>
        </p:nvSpPr>
        <p:spPr>
          <a:xfrm>
            <a:off x="5238750" y="2524125"/>
            <a:ext cx="59055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>
              <a:defRPr sz="3000" b="1">
                <a:solidFill>
                  <a:srgbClr val="E6E0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E6E0E9"/>
                </a:solidFill>
                <a:latin typeface="Microsoft YaHei"/>
                <a:ea typeface="Microsoft YaHei"/>
                <a:cs typeface="Microsoft YaHei"/>
              </a:rPr>
              <a:t>继续全屏</a:t>
            </a:r>
          </a:p>
        </p:txBody>
      </p:sp>
      <p:sp>
        <p:nvSpPr>
          <p:cNvPr id="8" name="continue-copy">
            <a:extLst>
              <a:ext uri="{FF2B5EF4-FFF2-40B4-BE49-F238E27FC236}">
                <a16:creationId xmlns:a16="http://schemas.microsoft.com/office/drawing/2014/main" id="{E360423F-6169-4D2A-8DE7-73C59642D15C}"/>
              </a:ext>
            </a:extLst>
          </p:cNvPr>
          <p:cNvSpPr>
            <a:spLocks noGrp="1"/>
          </p:cNvSpPr>
          <p:nvPr/>
        </p:nvSpPr>
        <p:spPr>
          <a:xfrm>
            <a:off x="5238750" y="3219450"/>
            <a:ext cx="59055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>
              <a:defRPr sz="2025" b="0">
                <a:solidFill>
                  <a:srgbClr val="CAC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CAC4D0"/>
                </a:solidFill>
                <a:latin typeface="Microsoft YaHei"/>
                <a:ea typeface="Microsoft YaHei"/>
                <a:cs typeface="Microsoft YaHei"/>
              </a:rPr>
              <a:t>收起面板，继续使用 CarPlay</a:t>
            </a:r>
          </a:p>
        </p:txBody>
      </p:sp>
      <p:sp>
        <p:nvSpPr>
          <p:cNvPr id="9" name="return-title">
            <a:extLst>
              <a:ext uri="{FF2B5EF4-FFF2-40B4-BE49-F238E27FC236}">
                <a16:creationId xmlns:a16="http://schemas.microsoft.com/office/drawing/2014/main" id="{2577A0EE-2F55-40F0-9201-909BB3B27BA3}"/>
              </a:ext>
            </a:extLst>
          </p:cNvPr>
          <p:cNvSpPr>
            <a:spLocks noGrp="1"/>
          </p:cNvSpPr>
          <p:nvPr/>
        </p:nvSpPr>
        <p:spPr>
          <a:xfrm>
            <a:off x="5238750" y="4200525"/>
            <a:ext cx="59055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>
              <a:defRPr sz="3000" b="1">
                <a:solidFill>
                  <a:srgbClr val="E6E0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E6E0E9"/>
                </a:solidFill>
                <a:latin typeface="Microsoft YaHei"/>
                <a:ea typeface="Microsoft YaHei"/>
                <a:cs typeface="Microsoft YaHei"/>
              </a:rPr>
              <a:t>返回应用</a:t>
            </a:r>
          </a:p>
        </p:txBody>
      </p:sp>
      <p:sp>
        <p:nvSpPr>
          <p:cNvPr id="10" name="return-copy">
            <a:extLst>
              <a:ext uri="{FF2B5EF4-FFF2-40B4-BE49-F238E27FC236}">
                <a16:creationId xmlns:a16="http://schemas.microsoft.com/office/drawing/2014/main" id="{8CBAE0BB-EEAB-401A-B9A7-BE10EDD5B5B7}"/>
              </a:ext>
            </a:extLst>
          </p:cNvPr>
          <p:cNvSpPr>
            <a:spLocks noGrp="1"/>
          </p:cNvSpPr>
          <p:nvPr/>
        </p:nvSpPr>
        <p:spPr>
          <a:xfrm>
            <a:off x="5238750" y="4895850"/>
            <a:ext cx="59055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>
              <a:defRPr sz="2025" b="0">
                <a:solidFill>
                  <a:srgbClr val="CAC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CAC4D0"/>
                </a:solidFill>
                <a:latin typeface="Microsoft YaHei"/>
                <a:ea typeface="Microsoft YaHei"/>
                <a:cs typeface="Microsoft YaHei"/>
              </a:rPr>
              <a:t>返回连接页，保持应用沉浸</a:t>
            </a:r>
          </a:p>
        </p:txBody>
      </p:sp>
    </p:spTree>
    <p:extLst>
      <p:ext uri="{BB962C8B-B14F-4D97-AF65-F5344CB8AC3E}">
        <p14:creationId xmlns:p14="http://schemas.microsoft.com/office/powerpoint/2010/main" val="5329265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9000">
        <p:fade/>
      </p:transition>
    </mc:Choice>
    <mc:Fallback>
      <p:transition spd="med" advClick="0" advTm="9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accel="50000" decel="5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7" presetClass="entr" presetSubtype="0" accel="50000" decel="5000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8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8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8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21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42" presetClass="entr" presetSubtype="0" accel="50000" decel="50000" fill="hold" grpId="0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42" presetClass="entr" presetSubtype="0" accel="50000" decel="50000" fill="hold" grpId="0" nodeType="with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51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2" grpId="0"/>
      <p:bldP spid="4" grpId="0"/>
      <p:bldP spid="6" grpId="0"/>
      <p:bldP spid="7" grpId="0"/>
      <p:bldP spid="8" grpId="0"/>
      <p:bldP spid="9" grpId="0"/>
      <p:bldP spid="1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2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>
            <a:extLst>
              <a:ext uri="{FF2B5EF4-FFF2-40B4-BE49-F238E27FC236}">
                <a16:creationId xmlns:a16="http://schemas.microsoft.com/office/drawing/2014/main" id="{CC744FD1-1E15-4647-89D4-AEB6940E94E6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>
              <a:defRPr sz="3450" b="1">
                <a:solidFill>
                  <a:srgbClr val="E6E0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E6E0E9"/>
                </a:solidFill>
                <a:latin typeface="Microsoft YaHei"/>
                <a:ea typeface="Microsoft YaHei"/>
                <a:cs typeface="Microsoft YaHei"/>
              </a:rPr>
              <a:t>16:10 屏幕适配</a:t>
            </a:r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C81A722A-58FF-43A1-82F8-C228E6A5DF4E}"/>
              </a:ext>
            </a:extLst>
          </p:cNvPr>
          <p:cNvSpPr>
            <a:spLocks noGrp="1"/>
          </p:cNvSpPr>
          <p:nvPr/>
        </p:nvSpPr>
        <p:spPr>
          <a:xfrm>
            <a:off x="609600" y="1238250"/>
            <a:ext cx="10934700" cy="4762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>
              <a:defRPr sz="1875" b="0">
                <a:solidFill>
                  <a:srgbClr val="CAC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CAC4D0"/>
                </a:solidFill>
                <a:latin typeface="Microsoft YaHei"/>
                <a:ea typeface="Microsoft YaHei"/>
                <a:cs typeface="Microsoft YaHei"/>
              </a:rPr>
              <a:t>按真实屏幕比例协商 CarPlay 画面</a:t>
            </a:r>
          </a:p>
        </p:txBody>
      </p:sp>
      <p:sp>
        <p:nvSpPr>
          <p:cNvPr id="3" name="metrics-left">
            <a:extLst>
              <a:ext uri="{FF2B5EF4-FFF2-40B4-BE49-F238E27FC236}">
                <a16:creationId xmlns:a16="http://schemas.microsoft.com/office/drawing/2014/main" id="{9BC73D29-38A5-4BE2-8248-1A1896DB30F1}"/>
              </a:ext>
            </a:extLst>
          </p:cNvPr>
          <p:cNvSpPr>
            <a:spLocks noGrp="1"/>
          </p:cNvSpPr>
          <p:nvPr/>
        </p:nvSpPr>
        <p:spPr>
          <a:xfrm>
            <a:off x="609600" y="2152650"/>
            <a:ext cx="5314950" cy="3000375"/>
          </a:xfrm>
          <a:prstGeom prst="rect">
            <a:avLst/>
          </a:prstGeom>
          <a:solidFill>
            <a:srgbClr val="1D1B20"/>
          </a:solidFill>
          <a:ln w="0">
            <a:noFill/>
          </a:ln>
        </p:spPr>
      </p:sp>
      <p:sp>
        <p:nvSpPr>
          <p:cNvPr id="4" name="metrics-right">
            <a:extLst>
              <a:ext uri="{FF2B5EF4-FFF2-40B4-BE49-F238E27FC236}">
                <a16:creationId xmlns:a16="http://schemas.microsoft.com/office/drawing/2014/main" id="{444D9B95-10FF-4731-A01F-D4A2EB5DABED}"/>
              </a:ext>
            </a:extLst>
          </p:cNvPr>
          <p:cNvSpPr>
            <a:spLocks noGrp="1"/>
          </p:cNvSpPr>
          <p:nvPr/>
        </p:nvSpPr>
        <p:spPr>
          <a:xfrm>
            <a:off x="6153150" y="2152650"/>
            <a:ext cx="5429250" cy="3000375"/>
          </a:xfrm>
          <a:prstGeom prst="rect">
            <a:avLst/>
          </a:prstGeom>
          <a:solidFill>
            <a:srgbClr val="211F26"/>
          </a:solidFill>
          <a:ln w="0">
            <a:noFill/>
          </a:ln>
        </p:spPr>
      </p:sp>
      <p:sp>
        <p:nvSpPr>
          <p:cNvPr id="5" name="panel-label">
            <a:extLst>
              <a:ext uri="{FF2B5EF4-FFF2-40B4-BE49-F238E27FC236}">
                <a16:creationId xmlns:a16="http://schemas.microsoft.com/office/drawing/2014/main" id="{6C95F21F-D58F-4354-9A2C-187EC3ABFF13}"/>
              </a:ext>
            </a:extLst>
          </p:cNvPr>
          <p:cNvSpPr>
            <a:spLocks noGrp="1"/>
          </p:cNvSpPr>
          <p:nvPr/>
        </p:nvSpPr>
        <p:spPr>
          <a:xfrm>
            <a:off x="895350" y="2476500"/>
            <a:ext cx="4714875" cy="4762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>
              <a:defRPr sz="2175" b="0">
                <a:solidFill>
                  <a:srgbClr val="CAC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CAC4D0"/>
                </a:solidFill>
                <a:latin typeface="Microsoft YaHei"/>
                <a:ea typeface="Microsoft YaHei"/>
                <a:cs typeface="Microsoft YaHei"/>
              </a:rPr>
              <a:t>平板原生分辨率</a:t>
            </a:r>
          </a:p>
        </p:txBody>
      </p:sp>
      <p:sp>
        <p:nvSpPr>
          <p:cNvPr id="6" name="panel-value">
            <a:extLst>
              <a:ext uri="{FF2B5EF4-FFF2-40B4-BE49-F238E27FC236}">
                <a16:creationId xmlns:a16="http://schemas.microsoft.com/office/drawing/2014/main" id="{E76257CD-B811-43F3-8B73-3A78BA1BDB48}"/>
              </a:ext>
            </a:extLst>
          </p:cNvPr>
          <p:cNvSpPr>
            <a:spLocks noGrp="1"/>
          </p:cNvSpPr>
          <p:nvPr/>
        </p:nvSpPr>
        <p:spPr>
          <a:xfrm>
            <a:off x="895350" y="3209925"/>
            <a:ext cx="4667250" cy="800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>
              <a:defRPr sz="4200" b="1">
                <a:solidFill>
                  <a:srgbClr val="E6E0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E6E0E9"/>
                </a:solidFill>
                <a:latin typeface="Microsoft YaHei"/>
                <a:ea typeface="Microsoft YaHei"/>
                <a:cs typeface="Microsoft YaHei"/>
              </a:rPr>
              <a:t>2560 × 1600</a:t>
            </a:r>
          </a:p>
        </p:txBody>
      </p:sp>
      <p:sp>
        <p:nvSpPr>
          <p:cNvPr id="7" name="video-label">
            <a:extLst>
              <a:ext uri="{FF2B5EF4-FFF2-40B4-BE49-F238E27FC236}">
                <a16:creationId xmlns:a16="http://schemas.microsoft.com/office/drawing/2014/main" id="{A5999D56-C525-408F-99A1-2A06C53BE76B}"/>
              </a:ext>
            </a:extLst>
          </p:cNvPr>
          <p:cNvSpPr>
            <a:spLocks noGrp="1"/>
          </p:cNvSpPr>
          <p:nvPr/>
        </p:nvSpPr>
        <p:spPr>
          <a:xfrm>
            <a:off x="6448425" y="2476500"/>
            <a:ext cx="4714875" cy="4762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>
              <a:defRPr sz="2175" b="0">
                <a:solidFill>
                  <a:srgbClr val="CAC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CAC4D0"/>
                </a:solidFill>
                <a:latin typeface="Microsoft YaHei"/>
                <a:ea typeface="Microsoft YaHei"/>
                <a:cs typeface="Microsoft YaHei"/>
              </a:rPr>
              <a:t>CarPlay 视频分辨率</a:t>
            </a:r>
          </a:p>
        </p:txBody>
      </p:sp>
      <p:sp>
        <p:nvSpPr>
          <p:cNvPr id="8" name="video-value">
            <a:extLst>
              <a:ext uri="{FF2B5EF4-FFF2-40B4-BE49-F238E27FC236}">
                <a16:creationId xmlns:a16="http://schemas.microsoft.com/office/drawing/2014/main" id="{44FA30F9-598D-4B3F-9113-CFA0257A93DC}"/>
              </a:ext>
            </a:extLst>
          </p:cNvPr>
          <p:cNvSpPr>
            <a:spLocks noGrp="1"/>
          </p:cNvSpPr>
          <p:nvPr/>
        </p:nvSpPr>
        <p:spPr>
          <a:xfrm>
            <a:off x="6448425" y="3209925"/>
            <a:ext cx="4705350" cy="800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>
              <a:defRPr sz="4200" b="1">
                <a:solidFill>
                  <a:srgbClr val="D0BC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D0BCFF"/>
                </a:solidFill>
                <a:latin typeface="Microsoft YaHei"/>
                <a:ea typeface="Microsoft YaHei"/>
                <a:cs typeface="Microsoft YaHei"/>
              </a:rPr>
              <a:t>1280 × 800</a:t>
            </a:r>
          </a:p>
        </p:txBody>
      </p:sp>
      <p:sp>
        <p:nvSpPr>
          <p:cNvPr id="9" name="ratio-copy">
            <a:extLst>
              <a:ext uri="{FF2B5EF4-FFF2-40B4-BE49-F238E27FC236}">
                <a16:creationId xmlns:a16="http://schemas.microsoft.com/office/drawing/2014/main" id="{BA0B42E8-DBEA-4F77-B990-10E544894272}"/>
              </a:ext>
            </a:extLst>
          </p:cNvPr>
          <p:cNvSpPr>
            <a:spLocks noGrp="1"/>
          </p:cNvSpPr>
          <p:nvPr/>
        </p:nvSpPr>
        <p:spPr>
          <a:xfrm>
            <a:off x="895350" y="4295775"/>
            <a:ext cx="10096500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>
              <a:defRPr sz="2325" b="0">
                <a:solidFill>
                  <a:srgbClr val="E6E0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E6E0E9"/>
                </a:solidFill>
                <a:latin typeface="Microsoft YaHei"/>
                <a:ea typeface="Microsoft YaHei"/>
                <a:cs typeface="Microsoft YaHei"/>
              </a:rPr>
              <a:t>相同比例缩放，保持完整画面</a:t>
            </a:r>
          </a:p>
        </p:txBody>
      </p:sp>
      <p:sp>
        <p:nvSpPr>
          <p:cNvPr id="10" name="ppi-copy">
            <a:extLst>
              <a:ext uri="{FF2B5EF4-FFF2-40B4-BE49-F238E27FC236}">
                <a16:creationId xmlns:a16="http://schemas.microsoft.com/office/drawing/2014/main" id="{66971BDF-53AE-489B-B66A-AAFC41E8805D}"/>
              </a:ext>
            </a:extLst>
          </p:cNvPr>
          <p:cNvSpPr>
            <a:spLocks noGrp="1"/>
          </p:cNvSpPr>
          <p:nvPr/>
        </p:nvSpPr>
        <p:spPr>
          <a:xfrm>
            <a:off x="895350" y="5476875"/>
            <a:ext cx="10477500" cy="4762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>
              <a:defRPr sz="1800" b="0">
                <a:solidFill>
                  <a:srgbClr val="CAC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CAC4D0"/>
                </a:solidFill>
                <a:latin typeface="Microsoft YaHei"/>
                <a:ea typeface="Microsoft YaHei"/>
                <a:cs typeface="Microsoft YaHei"/>
              </a:rPr>
              <a:t>约 344 PPI     物理尺寸约 189 × 118 mm</a:t>
            </a:r>
          </a:p>
        </p:txBody>
      </p:sp>
    </p:spTree>
    <p:extLst>
      <p:ext uri="{BB962C8B-B14F-4D97-AF65-F5344CB8AC3E}">
        <p14:creationId xmlns:p14="http://schemas.microsoft.com/office/powerpoint/2010/main" val="8155620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10000">
        <p:fade/>
      </p:transition>
    </mc:Choice>
    <mc:Fallback>
      <p:transition spd="med" advClick="0" advTm="1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accel="50000" decel="5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grpId="0" nodeType="with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4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5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2" grpId="0"/>
      <p:bldP spid="5" grpId="0"/>
      <p:bldP spid="6" grpId="0"/>
      <p:bldP spid="7" grpId="0"/>
      <p:bldP spid="8" grpId="0"/>
      <p:bldP spid="9" grpId="0"/>
      <p:bldP spid="1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2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">
            <a:extLst>
              <a:ext uri="{FF2B5EF4-FFF2-40B4-BE49-F238E27FC236}">
                <a16:creationId xmlns:a16="http://schemas.microsoft.com/office/drawing/2014/main" id="{1D396E2F-216B-41EB-BEBD-FF3951152989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>
              <a:defRPr sz="3450" b="1">
                <a:solidFill>
                  <a:srgbClr val="E6E0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E6E0E9"/>
                </a:solidFill>
                <a:latin typeface="Microsoft YaHei"/>
                <a:ea typeface="Microsoft YaHei"/>
                <a:cs typeface="Microsoft YaHei"/>
              </a:rPr>
              <a:t>首次使用</a:t>
            </a:r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B604DF6B-F6C6-4903-9D7D-4C2DFDF5AFDE}"/>
              </a:ext>
            </a:extLst>
          </p:cNvPr>
          <p:cNvSpPr>
            <a:spLocks noGrp="1"/>
          </p:cNvSpPr>
          <p:nvPr/>
        </p:nvSpPr>
        <p:spPr>
          <a:xfrm>
            <a:off x="609600" y="1238250"/>
            <a:ext cx="10934700" cy="4762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>
              <a:defRPr sz="1875" b="0">
                <a:solidFill>
                  <a:srgbClr val="CAC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CAC4D0"/>
                </a:solidFill>
                <a:latin typeface="Microsoft YaHei"/>
                <a:ea typeface="Microsoft YaHei"/>
                <a:cs typeface="Microsoft YaHei"/>
              </a:rPr>
              <a:t>完成一次配置，之后从首页连接</a:t>
            </a:r>
          </a:p>
        </p:txBody>
      </p:sp>
      <p:sp>
        <p:nvSpPr>
          <p:cNvPr id="3" name="step-field-0">
            <a:extLst>
              <a:ext uri="{FF2B5EF4-FFF2-40B4-BE49-F238E27FC236}">
                <a16:creationId xmlns:a16="http://schemas.microsoft.com/office/drawing/2014/main" id="{5B4D51DD-B64B-4EE2-A7A6-28DD99A5DD53}"/>
              </a:ext>
            </a:extLst>
          </p:cNvPr>
          <p:cNvSpPr>
            <a:spLocks noGrp="1"/>
          </p:cNvSpPr>
          <p:nvPr/>
        </p:nvSpPr>
        <p:spPr>
          <a:xfrm>
            <a:off x="609600" y="2133600"/>
            <a:ext cx="10972800" cy="1143000"/>
          </a:xfrm>
          <a:prstGeom prst="rect">
            <a:avLst/>
          </a:prstGeom>
          <a:solidFill>
            <a:srgbClr val="1D1B20"/>
          </a:solidFill>
          <a:ln w="0">
            <a:noFill/>
          </a:ln>
        </p:spPr>
      </p:sp>
      <p:sp>
        <p:nvSpPr>
          <p:cNvPr id="4" name="step-num-0">
            <a:extLst>
              <a:ext uri="{FF2B5EF4-FFF2-40B4-BE49-F238E27FC236}">
                <a16:creationId xmlns:a16="http://schemas.microsoft.com/office/drawing/2014/main" id="{48428BBC-D5B6-4584-BA5F-8D33CF81A4D6}"/>
              </a:ext>
            </a:extLst>
          </p:cNvPr>
          <p:cNvSpPr>
            <a:spLocks noGrp="1"/>
          </p:cNvSpPr>
          <p:nvPr/>
        </p:nvSpPr>
        <p:spPr>
          <a:xfrm>
            <a:off x="895350" y="2352675"/>
            <a:ext cx="1047750" cy="619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>
              <a:defRPr sz="3150" b="1">
                <a:solidFill>
                  <a:srgbClr val="D0BC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D0BC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step-title-0">
            <a:extLst>
              <a:ext uri="{FF2B5EF4-FFF2-40B4-BE49-F238E27FC236}">
                <a16:creationId xmlns:a16="http://schemas.microsoft.com/office/drawing/2014/main" id="{AC6939FD-CC7D-4D27-831F-D2BFD48655AC}"/>
              </a:ext>
            </a:extLst>
          </p:cNvPr>
          <p:cNvSpPr>
            <a:spLocks noGrp="1"/>
          </p:cNvSpPr>
          <p:nvPr/>
        </p:nvSpPr>
        <p:spPr>
          <a:xfrm>
            <a:off x="2209800" y="2266950"/>
            <a:ext cx="8096250" cy="4857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>
              <a:defRPr sz="2400" b="1">
                <a:solidFill>
                  <a:srgbClr val="E6E0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E6E0E9"/>
                </a:solidFill>
                <a:latin typeface="Microsoft YaHei"/>
                <a:ea typeface="Microsoft YaHei"/>
                <a:cs typeface="Microsoft YaHei"/>
              </a:rPr>
              <a:t>蓝牙配对与热点</a:t>
            </a:r>
          </a:p>
        </p:txBody>
      </p:sp>
      <p:sp>
        <p:nvSpPr>
          <p:cNvPr id="6" name="step-body-0">
            <a:extLst>
              <a:ext uri="{FF2B5EF4-FFF2-40B4-BE49-F238E27FC236}">
                <a16:creationId xmlns:a16="http://schemas.microsoft.com/office/drawing/2014/main" id="{F706DADC-CA69-4F44-ABAF-E8F058559FBE}"/>
              </a:ext>
            </a:extLst>
          </p:cNvPr>
          <p:cNvSpPr>
            <a:spLocks noGrp="1"/>
          </p:cNvSpPr>
          <p:nvPr/>
        </p:nvSpPr>
        <p:spPr>
          <a:xfrm>
            <a:off x="2209800" y="2790825"/>
            <a:ext cx="8724900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>
              <a:defRPr sz="1800" b="0">
                <a:solidFill>
                  <a:srgbClr val="CAC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CAC4D0"/>
                </a:solidFill>
                <a:latin typeface="Microsoft YaHei"/>
                <a:ea typeface="Microsoft YaHei"/>
                <a:cs typeface="Microsoft YaHei"/>
              </a:rPr>
              <a:t>在系统中配对 iPhone，并开启平板热点</a:t>
            </a:r>
          </a:p>
        </p:txBody>
      </p:sp>
      <p:sp>
        <p:nvSpPr>
          <p:cNvPr id="7" name="step-field-1">
            <a:extLst>
              <a:ext uri="{FF2B5EF4-FFF2-40B4-BE49-F238E27FC236}">
                <a16:creationId xmlns:a16="http://schemas.microsoft.com/office/drawing/2014/main" id="{A701C565-C40E-46ED-ACD1-1E4A395A5575}"/>
              </a:ext>
            </a:extLst>
          </p:cNvPr>
          <p:cNvSpPr>
            <a:spLocks noGrp="1"/>
          </p:cNvSpPr>
          <p:nvPr/>
        </p:nvSpPr>
        <p:spPr>
          <a:xfrm>
            <a:off x="609600" y="3467100"/>
            <a:ext cx="10972800" cy="1143000"/>
          </a:xfrm>
          <a:prstGeom prst="rect">
            <a:avLst/>
          </a:prstGeom>
          <a:solidFill>
            <a:srgbClr val="211F26"/>
          </a:solidFill>
          <a:ln w="0">
            <a:noFill/>
          </a:ln>
        </p:spPr>
      </p:sp>
      <p:sp>
        <p:nvSpPr>
          <p:cNvPr id="8" name="step-num-1">
            <a:extLst>
              <a:ext uri="{FF2B5EF4-FFF2-40B4-BE49-F238E27FC236}">
                <a16:creationId xmlns:a16="http://schemas.microsoft.com/office/drawing/2014/main" id="{601F0EA2-6649-427C-87B8-4F6F8610FFF5}"/>
              </a:ext>
            </a:extLst>
          </p:cNvPr>
          <p:cNvSpPr>
            <a:spLocks noGrp="1"/>
          </p:cNvSpPr>
          <p:nvPr/>
        </p:nvSpPr>
        <p:spPr>
          <a:xfrm>
            <a:off x="895350" y="3686175"/>
            <a:ext cx="1047750" cy="619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>
              <a:defRPr sz="3150" b="1">
                <a:solidFill>
                  <a:srgbClr val="D0BC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D0BC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step-title-1">
            <a:extLst>
              <a:ext uri="{FF2B5EF4-FFF2-40B4-BE49-F238E27FC236}">
                <a16:creationId xmlns:a16="http://schemas.microsoft.com/office/drawing/2014/main" id="{8E055435-CBB0-4955-867D-8C8FD4A82F20}"/>
              </a:ext>
            </a:extLst>
          </p:cNvPr>
          <p:cNvSpPr>
            <a:spLocks noGrp="1"/>
          </p:cNvSpPr>
          <p:nvPr/>
        </p:nvSpPr>
        <p:spPr>
          <a:xfrm>
            <a:off x="2209800" y="3600450"/>
            <a:ext cx="8096250" cy="4857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>
              <a:defRPr sz="2400" b="1">
                <a:solidFill>
                  <a:srgbClr val="E6E0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E6E0E9"/>
                </a:solidFill>
                <a:latin typeface="Microsoft YaHei"/>
                <a:ea typeface="Microsoft YaHei"/>
                <a:cs typeface="Microsoft YaHei"/>
              </a:rPr>
              <a:t>保存连接配置</a:t>
            </a:r>
          </a:p>
        </p:txBody>
      </p:sp>
      <p:sp>
        <p:nvSpPr>
          <p:cNvPr id="10" name="step-body-1">
            <a:extLst>
              <a:ext uri="{FF2B5EF4-FFF2-40B4-BE49-F238E27FC236}">
                <a16:creationId xmlns:a16="http://schemas.microsoft.com/office/drawing/2014/main" id="{DE6A4E7A-0CF0-41EC-97B4-100F292CFD7F}"/>
              </a:ext>
            </a:extLst>
          </p:cNvPr>
          <p:cNvSpPr>
            <a:spLocks noGrp="1"/>
          </p:cNvSpPr>
          <p:nvPr/>
        </p:nvSpPr>
        <p:spPr>
          <a:xfrm>
            <a:off x="2209800" y="4124325"/>
            <a:ext cx="8724900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>
              <a:defRPr sz="1800" b="0">
                <a:solidFill>
                  <a:srgbClr val="CAC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CAC4D0"/>
                </a:solidFill>
                <a:latin typeface="Microsoft YaHei"/>
                <a:ea typeface="Microsoft YaHei"/>
                <a:cs typeface="Microsoft YaHei"/>
              </a:rPr>
              <a:t>选择 iPhone，填写热点信息、网关和本机蓝牙地址</a:t>
            </a:r>
          </a:p>
        </p:txBody>
      </p:sp>
      <p:sp>
        <p:nvSpPr>
          <p:cNvPr id="11" name="step-field-2">
            <a:extLst>
              <a:ext uri="{FF2B5EF4-FFF2-40B4-BE49-F238E27FC236}">
                <a16:creationId xmlns:a16="http://schemas.microsoft.com/office/drawing/2014/main" id="{EF5DA6FD-7D7D-44D2-9FDB-8F739940AB8F}"/>
              </a:ext>
            </a:extLst>
          </p:cNvPr>
          <p:cNvSpPr>
            <a:spLocks noGrp="1"/>
          </p:cNvSpPr>
          <p:nvPr/>
        </p:nvSpPr>
        <p:spPr>
          <a:xfrm>
            <a:off x="609600" y="4800600"/>
            <a:ext cx="10972800" cy="1143000"/>
          </a:xfrm>
          <a:prstGeom prst="rect">
            <a:avLst/>
          </a:prstGeom>
          <a:solidFill>
            <a:srgbClr val="1D1B20"/>
          </a:solidFill>
          <a:ln w="0">
            <a:noFill/>
          </a:ln>
        </p:spPr>
      </p:sp>
      <p:sp>
        <p:nvSpPr>
          <p:cNvPr id="12" name="step-num-2">
            <a:extLst>
              <a:ext uri="{FF2B5EF4-FFF2-40B4-BE49-F238E27FC236}">
                <a16:creationId xmlns:a16="http://schemas.microsoft.com/office/drawing/2014/main" id="{36AE1D07-3E58-4413-A6EF-10E0BEA53A52}"/>
              </a:ext>
            </a:extLst>
          </p:cNvPr>
          <p:cNvSpPr>
            <a:spLocks noGrp="1"/>
          </p:cNvSpPr>
          <p:nvPr/>
        </p:nvSpPr>
        <p:spPr>
          <a:xfrm>
            <a:off x="895350" y="5019675"/>
            <a:ext cx="1047750" cy="619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>
              <a:defRPr sz="3150" b="1">
                <a:solidFill>
                  <a:srgbClr val="D0BC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D0BC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3" name="step-title-2">
            <a:extLst>
              <a:ext uri="{FF2B5EF4-FFF2-40B4-BE49-F238E27FC236}">
                <a16:creationId xmlns:a16="http://schemas.microsoft.com/office/drawing/2014/main" id="{768D959C-1C11-45C1-9E10-8D9DF8246065}"/>
              </a:ext>
            </a:extLst>
          </p:cNvPr>
          <p:cNvSpPr>
            <a:spLocks noGrp="1"/>
          </p:cNvSpPr>
          <p:nvPr/>
        </p:nvSpPr>
        <p:spPr>
          <a:xfrm>
            <a:off x="2209800" y="4933950"/>
            <a:ext cx="8096250" cy="4857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>
              <a:defRPr sz="2400" b="1">
                <a:solidFill>
                  <a:srgbClr val="E6E0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E6E0E9"/>
                </a:solidFill>
                <a:latin typeface="Microsoft YaHei"/>
                <a:ea typeface="Microsoft YaHei"/>
                <a:cs typeface="Microsoft YaHei"/>
              </a:rPr>
              <a:t>返回首页连接</a:t>
            </a:r>
          </a:p>
        </p:txBody>
      </p:sp>
      <p:sp>
        <p:nvSpPr>
          <p:cNvPr id="14" name="step-body-2">
            <a:extLst>
              <a:ext uri="{FF2B5EF4-FFF2-40B4-BE49-F238E27FC236}">
                <a16:creationId xmlns:a16="http://schemas.microsoft.com/office/drawing/2014/main" id="{28B4C288-9ED2-4235-BE74-A4E8994318C1}"/>
              </a:ext>
            </a:extLst>
          </p:cNvPr>
          <p:cNvSpPr>
            <a:spLocks noGrp="1"/>
          </p:cNvSpPr>
          <p:nvPr/>
        </p:nvSpPr>
        <p:spPr>
          <a:xfrm>
            <a:off x="2209800" y="5457825"/>
            <a:ext cx="8724900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>
              <a:defRPr sz="1800" b="0">
                <a:solidFill>
                  <a:srgbClr val="CAC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CAC4D0"/>
                </a:solidFill>
                <a:latin typeface="Microsoft YaHei"/>
                <a:ea typeface="Microsoft YaHei"/>
                <a:cs typeface="Microsoft YaHei"/>
              </a:rPr>
              <a:t>如 iPhone 弹出 CarPlay 确认，请允许</a:t>
            </a:r>
          </a:p>
        </p:txBody>
      </p:sp>
    </p:spTree>
    <p:extLst>
      <p:ext uri="{BB962C8B-B14F-4D97-AF65-F5344CB8AC3E}">
        <p14:creationId xmlns:p14="http://schemas.microsoft.com/office/powerpoint/2010/main" val="182421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12000">
        <p:fade/>
      </p:transition>
    </mc:Choice>
    <mc:Fallback>
      <p:transition spd="med" advClick="0" advTm="1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accel="50000" decel="5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entr" presetSubtype="0" accel="50000" decel="50000" fill="hold" grpId="0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3" presetClass="entr" presetSubtype="16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42" presetClass="entr" presetSubtype="0" accel="50000" decel="50000" fill="hold" grpId="0" nodeType="withEffect">
                                  <p:stCondLst>
                                    <p:cond delay="30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grpId="0" nodeType="withEffect">
                                  <p:stCondLst>
                                    <p:cond delay="47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42" presetClass="entr" presetSubtype="0" accel="50000" decel="50000" fill="hold" grpId="0" nodeType="withEffect">
                                  <p:stCondLst>
                                    <p:cond delay="49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55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" grpId="0"/>
      <p:bldP spid="4" grpId="0"/>
      <p:bldP spid="5" grpId="0"/>
      <p:bldP spid="6" grpId="0"/>
      <p:bldP spid="8" grpId="0"/>
      <p:bldP spid="9" grpId="0"/>
      <p:bldP spid="10" grpId="0"/>
      <p:bldP spid="12" grpId="0"/>
      <p:bldP spid="13" grpId="0"/>
      <p:bldP spid="1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2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">
            <a:extLst>
              <a:ext uri="{FF2B5EF4-FFF2-40B4-BE49-F238E27FC236}">
                <a16:creationId xmlns:a16="http://schemas.microsoft.com/office/drawing/2014/main" id="{B7F9FE72-E8DF-4229-9789-8751F4DD2075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>
              <a:defRPr sz="3450" b="1">
                <a:solidFill>
                  <a:srgbClr val="E6E0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E6E0E9"/>
                </a:solidFill>
                <a:latin typeface="Microsoft YaHei"/>
                <a:ea typeface="Microsoft YaHei"/>
                <a:cs typeface="Microsoft YaHei"/>
              </a:rPr>
              <a:t>连接配置与恢复</a:t>
            </a:r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8C254439-C322-48EF-883A-75EF104F49F6}"/>
              </a:ext>
            </a:extLst>
          </p:cNvPr>
          <p:cNvSpPr>
            <a:spLocks noGrp="1"/>
          </p:cNvSpPr>
          <p:nvPr/>
        </p:nvSpPr>
        <p:spPr>
          <a:xfrm>
            <a:off x="609600" y="1238250"/>
            <a:ext cx="10934700" cy="4762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>
              <a:defRPr sz="1875" b="0">
                <a:solidFill>
                  <a:srgbClr val="CAC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CAC4D0"/>
                </a:solidFill>
                <a:latin typeface="Microsoft YaHei"/>
                <a:ea typeface="Microsoft YaHei"/>
                <a:cs typeface="Microsoft YaHei"/>
              </a:rPr>
              <a:t>应用保存配置，可选前台断线重试</a:t>
            </a:r>
          </a:p>
        </p:txBody>
      </p:sp>
      <p:pic>
        <p:nvPicPr>
          <p:cNvPr id="14" name="about-screenshot" descr="about-screenshot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248525" y="2447925"/>
            <a:ext cx="1952625" cy="1952625"/>
          </a:xfrm>
          <a:prstGeom prst="rect">
            <a:avLst/>
          </a:prstGeom>
        </p:spPr>
      </p:pic>
      <p:sp>
        <p:nvSpPr>
          <p:cNvPr id="4" name="reconnect-public">
            <a:extLst>
              <a:ext uri="{FF2B5EF4-FFF2-40B4-BE49-F238E27FC236}">
                <a16:creationId xmlns:a16="http://schemas.microsoft.com/office/drawing/2014/main" id="{B67B43B7-F46E-4773-8AEF-3B36D65DFD60}"/>
              </a:ext>
            </a:extLst>
          </p:cNvPr>
          <p:cNvSpPr>
            <a:spLocks noGrp="1"/>
          </p:cNvSpPr>
          <p:nvPr/>
        </p:nvSpPr>
        <p:spPr>
          <a:xfrm>
            <a:off x="5305425" y="4857750"/>
            <a:ext cx="6238875" cy="5143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>
              <a:defRPr sz="2025" b="0">
                <a:solidFill>
                  <a:srgbClr val="CAC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CAC4D0"/>
                </a:solidFill>
                <a:latin typeface="Microsoft YaHei"/>
                <a:ea typeface="Microsoft YaHei"/>
                <a:cs typeface="Microsoft YaHei"/>
              </a:rPr>
              <a:t>手动断开 / 后台 / 锁屏</a:t>
            </a:r>
          </a:p>
        </p:txBody>
      </p:sp>
      <p:sp>
        <p:nvSpPr>
          <p:cNvPr id="5" name="reconnect-public2">
            <a:extLst>
              <a:ext uri="{FF2B5EF4-FFF2-40B4-BE49-F238E27FC236}">
                <a16:creationId xmlns:a16="http://schemas.microsoft.com/office/drawing/2014/main" id="{AC57EF66-E190-45E5-A353-9A0974110A78}"/>
              </a:ext>
            </a:extLst>
          </p:cNvPr>
          <p:cNvSpPr>
            <a:spLocks noGrp="1"/>
          </p:cNvSpPr>
          <p:nvPr/>
        </p:nvSpPr>
        <p:spPr>
          <a:xfrm>
            <a:off x="5305425" y="5543550"/>
            <a:ext cx="6238875" cy="5143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>
              <a:defRPr sz="2250" b="1">
                <a:solidFill>
                  <a:srgbClr val="D0BC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D0BCFF"/>
                </a:solidFill>
                <a:latin typeface="Microsoft YaHei"/>
                <a:ea typeface="Microsoft YaHei"/>
                <a:cs typeface="Microsoft YaHei"/>
              </a:rPr>
              <a:t>停止重试，释放会话</a:t>
            </a:r>
          </a:p>
        </p:txBody>
      </p:sp>
      <p:pic>
        <p:nvPicPr>
          <p:cNvPr id="17" name="settings-icon" descr="settings-icon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47700" y="2219325"/>
            <a:ext cx="647700" cy="647700"/>
          </a:xfrm>
          <a:prstGeom prst="rect">
            <a:avLst/>
          </a:prstGeom>
        </p:spPr>
      </p:pic>
      <p:sp>
        <p:nvSpPr>
          <p:cNvPr id="7" name="settings-title">
            <a:extLst>
              <a:ext uri="{FF2B5EF4-FFF2-40B4-BE49-F238E27FC236}">
                <a16:creationId xmlns:a16="http://schemas.microsoft.com/office/drawing/2014/main" id="{A6163F61-A4A6-4E4C-99C1-D2860BA01819}"/>
              </a:ext>
            </a:extLst>
          </p:cNvPr>
          <p:cNvSpPr>
            <a:spLocks noGrp="1"/>
          </p:cNvSpPr>
          <p:nvPr/>
        </p:nvSpPr>
        <p:spPr>
          <a:xfrm>
            <a:off x="1562100" y="2295525"/>
            <a:ext cx="3276600" cy="4762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>
              <a:defRPr sz="2175" b="1">
                <a:solidFill>
                  <a:srgbClr val="E6E0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E6E0E9"/>
                </a:solidFill>
                <a:latin typeface="Microsoft YaHei"/>
                <a:ea typeface="Microsoft YaHei"/>
                <a:cs typeface="Microsoft YaHei"/>
              </a:rPr>
              <a:t>配置保存在本机</a:t>
            </a:r>
          </a:p>
        </p:txBody>
      </p:sp>
      <p:sp>
        <p:nvSpPr>
          <p:cNvPr id="8" name="settings-copy">
            <a:extLst>
              <a:ext uri="{FF2B5EF4-FFF2-40B4-BE49-F238E27FC236}">
                <a16:creationId xmlns:a16="http://schemas.microsoft.com/office/drawing/2014/main" id="{E50C2B25-E5ED-4FC1-97E5-D17F5B937109}"/>
              </a:ext>
            </a:extLst>
          </p:cNvPr>
          <p:cNvSpPr>
            <a:spLocks noGrp="1"/>
          </p:cNvSpPr>
          <p:nvPr/>
        </p:nvSpPr>
        <p:spPr>
          <a:xfrm>
            <a:off x="1562100" y="2952750"/>
            <a:ext cx="3238500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>
              <a:defRPr sz="1875" b="0">
                <a:solidFill>
                  <a:srgbClr val="CAC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CAC4D0"/>
                </a:solidFill>
                <a:latin typeface="Microsoft YaHei"/>
                <a:ea typeface="Microsoft YaHei"/>
                <a:cs typeface="Microsoft YaHei"/>
              </a:rPr>
              <a:t>覆盖更新后继续使用</a:t>
            </a:r>
          </a:p>
        </p:txBody>
      </p:sp>
      <p:pic>
        <p:nvPicPr>
          <p:cNvPr id="20" name="reconnect-icon" descr="reconnect-icon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47700" y="3971925"/>
            <a:ext cx="647700" cy="647700"/>
          </a:xfrm>
          <a:prstGeom prst="rect">
            <a:avLst/>
          </a:prstGeom>
        </p:spPr>
      </p:pic>
      <p:sp>
        <p:nvSpPr>
          <p:cNvPr id="10" name="retry-title">
            <a:extLst>
              <a:ext uri="{FF2B5EF4-FFF2-40B4-BE49-F238E27FC236}">
                <a16:creationId xmlns:a16="http://schemas.microsoft.com/office/drawing/2014/main" id="{095F4E49-796C-411A-89F8-345BDEB4804B}"/>
              </a:ext>
            </a:extLst>
          </p:cNvPr>
          <p:cNvSpPr>
            <a:spLocks noGrp="1"/>
          </p:cNvSpPr>
          <p:nvPr/>
        </p:nvSpPr>
        <p:spPr>
          <a:xfrm>
            <a:off x="1562100" y="4057650"/>
            <a:ext cx="3238500" cy="4762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>
              <a:defRPr sz="2175" b="1">
                <a:solidFill>
                  <a:srgbClr val="E6E0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E6E0E9"/>
                </a:solidFill>
                <a:latin typeface="Microsoft YaHei"/>
                <a:ea typeface="Microsoft YaHei"/>
                <a:cs typeface="Microsoft YaHei"/>
              </a:rPr>
              <a:t>可选前台重试</a:t>
            </a:r>
          </a:p>
        </p:txBody>
      </p:sp>
      <p:sp>
        <p:nvSpPr>
          <p:cNvPr id="11" name="retry-copy">
            <a:extLst>
              <a:ext uri="{FF2B5EF4-FFF2-40B4-BE49-F238E27FC236}">
                <a16:creationId xmlns:a16="http://schemas.microsoft.com/office/drawing/2014/main" id="{D75614BD-5511-475F-AF67-2E768597BAC1}"/>
              </a:ext>
            </a:extLst>
          </p:cNvPr>
          <p:cNvSpPr>
            <a:spLocks noGrp="1"/>
          </p:cNvSpPr>
          <p:nvPr/>
        </p:nvSpPr>
        <p:spPr>
          <a:xfrm>
            <a:off x="1562100" y="4714875"/>
            <a:ext cx="3238500" cy="8858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>
              <a:defRPr sz="1875" b="0">
                <a:solidFill>
                  <a:srgbClr val="CAC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CAC4D0"/>
                </a:solidFill>
                <a:latin typeface="Microsoft YaHei"/>
                <a:ea typeface="Microsoft YaHei"/>
                <a:cs typeface="Microsoft YaHei"/>
              </a:rPr>
              <a:t>最多 3 次</a:t>
            </a:r>
          </a:p>
          <a:p>
            <a:pPr>
              <a:defRPr sz="1875" b="0">
                <a:solidFill>
                  <a:srgbClr val="CAC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CAC4D0"/>
                </a:solidFill>
                <a:latin typeface="Microsoft YaHei"/>
                <a:ea typeface="Microsoft YaHei"/>
                <a:cs typeface="Microsoft YaHei"/>
              </a:rPr>
              <a:t>间隔 2、4、8 秒</a:t>
            </a:r>
          </a:p>
        </p:txBody>
      </p:sp>
    </p:spTree>
    <p:extLst>
      <p:ext uri="{BB962C8B-B14F-4D97-AF65-F5344CB8AC3E}">
        <p14:creationId xmlns:p14="http://schemas.microsoft.com/office/powerpoint/2010/main" val="13117649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10000">
        <p:fade/>
      </p:transition>
    </mc:Choice>
    <mc:Fallback>
      <p:transition spd="med" advClick="0" advTm="1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accel="50000" decel="5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8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8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8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entr" presetSubtype="0" accel="50000" decel="5000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8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8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8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2" presetClass="entr" presetSubtype="0" accel="50000" decel="5000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8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8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8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47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54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2" grpId="0"/>
      <p:bldP spid="4" grpId="0"/>
      <p:bldP spid="5" grpId="0"/>
      <p:bldP spid="7" grpId="0"/>
      <p:bldP spid="8" grpId="0"/>
      <p:bldP spid="10" grpId="0"/>
      <p:bldP spid="1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2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>
            <a:extLst>
              <a:ext uri="{FF2B5EF4-FFF2-40B4-BE49-F238E27FC236}">
                <a16:creationId xmlns:a16="http://schemas.microsoft.com/office/drawing/2014/main" id="{7C6B6E7F-B709-4AD6-A534-C213022842ED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>
              <a:defRPr sz="3450" b="1">
                <a:solidFill>
                  <a:srgbClr val="E6E0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E6E0E9"/>
                </a:solidFill>
                <a:latin typeface="Microsoft YaHei"/>
                <a:ea typeface="Microsoft YaHei"/>
                <a:cs typeface="Microsoft YaHei"/>
              </a:rPr>
              <a:t>本机数据管理</a:t>
            </a:r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372958CD-4FD8-447F-BD09-474DCEFA8372}"/>
              </a:ext>
            </a:extLst>
          </p:cNvPr>
          <p:cNvSpPr>
            <a:spLocks noGrp="1"/>
          </p:cNvSpPr>
          <p:nvPr/>
        </p:nvSpPr>
        <p:spPr>
          <a:xfrm>
            <a:off x="609600" y="1238250"/>
            <a:ext cx="10934700" cy="4762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>
              <a:defRPr sz="1875" b="0">
                <a:solidFill>
                  <a:srgbClr val="CAC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CAC4D0"/>
                </a:solidFill>
                <a:latin typeface="Microsoft YaHei"/>
                <a:ea typeface="Microsoft YaHei"/>
                <a:cs typeface="Microsoft YaHei"/>
              </a:rPr>
              <a:t>密码保存由用户选择</a:t>
            </a:r>
          </a:p>
        </p:txBody>
      </p:sp>
      <p:pic>
        <p:nvPicPr>
          <p:cNvPr id="9" name="privacy-icon" descr="privacy-icon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00100" y="2314575"/>
            <a:ext cx="2247900" cy="2247900"/>
          </a:xfrm>
          <a:prstGeom prst="rect">
            <a:avLst/>
          </a:prstGeom>
        </p:spPr>
      </p:pic>
      <p:sp>
        <p:nvSpPr>
          <p:cNvPr id="4" name="privacy-main">
            <a:extLst>
              <a:ext uri="{FF2B5EF4-FFF2-40B4-BE49-F238E27FC236}">
                <a16:creationId xmlns:a16="http://schemas.microsoft.com/office/drawing/2014/main" id="{0025A472-18F2-4946-9288-F783315FE21C}"/>
              </a:ext>
            </a:extLst>
          </p:cNvPr>
          <p:cNvSpPr>
            <a:spLocks noGrp="1"/>
          </p:cNvSpPr>
          <p:nvPr/>
        </p:nvSpPr>
        <p:spPr>
          <a:xfrm>
            <a:off x="3771900" y="2171700"/>
            <a:ext cx="7600950" cy="714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>
              <a:defRPr sz="2775" b="1">
                <a:solidFill>
                  <a:srgbClr val="E6E0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E6E0E9"/>
                </a:solidFill>
                <a:latin typeface="Microsoft YaHei"/>
                <a:ea typeface="Microsoft YaHei"/>
                <a:cs typeface="Microsoft YaHei"/>
              </a:rPr>
              <a:t>热点密码默认不持久保存</a:t>
            </a:r>
          </a:p>
        </p:txBody>
      </p:sp>
      <p:sp>
        <p:nvSpPr>
          <p:cNvPr id="5" name="privacy-vault">
            <a:extLst>
              <a:ext uri="{FF2B5EF4-FFF2-40B4-BE49-F238E27FC236}">
                <a16:creationId xmlns:a16="http://schemas.microsoft.com/office/drawing/2014/main" id="{0CB1A1B4-235D-49D8-AA38-977CC98B8D5F}"/>
              </a:ext>
            </a:extLst>
          </p:cNvPr>
          <p:cNvSpPr>
            <a:spLocks noGrp="1"/>
          </p:cNvSpPr>
          <p:nvPr/>
        </p:nvSpPr>
        <p:spPr>
          <a:xfrm>
            <a:off x="3771900" y="3238500"/>
            <a:ext cx="7600950" cy="1123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>
              <a:defRPr sz="2250" b="0">
                <a:solidFill>
                  <a:srgbClr val="D0BC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D0BCFF"/>
                </a:solidFill>
                <a:latin typeface="Microsoft YaHei"/>
                <a:ea typeface="Microsoft YaHei"/>
                <a:cs typeface="Microsoft YaHei"/>
              </a:rPr>
              <a:t>开启“记住热点密码”后</a:t>
            </a:r>
          </a:p>
          <a:p>
            <a:pPr>
              <a:defRPr sz="2250" b="0">
                <a:solidFill>
                  <a:srgbClr val="D0BC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D0BCFF"/>
                </a:solidFill>
                <a:latin typeface="Microsoft YaHei"/>
                <a:ea typeface="Microsoft YaHei"/>
                <a:cs typeface="Microsoft YaHei"/>
              </a:rPr>
              <a:t>写入鸿蒙安全资产库</a:t>
            </a:r>
          </a:p>
        </p:txBody>
      </p:sp>
      <p:sp>
        <p:nvSpPr>
          <p:cNvPr id="6" name="privacy-diagnostics">
            <a:extLst>
              <a:ext uri="{FF2B5EF4-FFF2-40B4-BE49-F238E27FC236}">
                <a16:creationId xmlns:a16="http://schemas.microsoft.com/office/drawing/2014/main" id="{8D83680C-6FB6-4B0A-A21B-12CC3F928CBE}"/>
              </a:ext>
            </a:extLst>
          </p:cNvPr>
          <p:cNvSpPr>
            <a:spLocks noGrp="1"/>
          </p:cNvSpPr>
          <p:nvPr/>
        </p:nvSpPr>
        <p:spPr>
          <a:xfrm>
            <a:off x="3771900" y="4857750"/>
            <a:ext cx="7600950" cy="1009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>
              <a:defRPr sz="2025" b="0">
                <a:solidFill>
                  <a:srgbClr val="CAC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CAC4D0"/>
                </a:solidFill>
                <a:latin typeface="Microsoft YaHei"/>
                <a:ea typeface="Microsoft YaHei"/>
                <a:cs typeface="Microsoft YaHei"/>
              </a:rPr>
              <a:t>诊断由用户主动复制</a:t>
            </a:r>
          </a:p>
          <a:p>
            <a:pPr>
              <a:defRPr sz="2025" b="0">
                <a:solidFill>
                  <a:srgbClr val="CAC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CAC4D0"/>
                </a:solidFill>
                <a:latin typeface="Microsoft YaHei"/>
                <a:ea typeface="Microsoft YaHei"/>
                <a:cs typeface="Microsoft YaHei"/>
              </a:rPr>
              <a:t>应用不会自动上传诊断记录</a:t>
            </a:r>
          </a:p>
        </p:txBody>
      </p:sp>
    </p:spTree>
    <p:extLst>
      <p:ext uri="{BB962C8B-B14F-4D97-AF65-F5344CB8AC3E}">
        <p14:creationId xmlns:p14="http://schemas.microsoft.com/office/powerpoint/2010/main" val="2420386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10000">
        <p:fade/>
      </p:transition>
    </mc:Choice>
    <mc:Fallback>
      <p:transition spd="med" advClick="0" advTm="1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accel="50000" decel="5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8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8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8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entr" presetSubtype="0" accel="50000" decel="5000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" grpId="0"/>
      <p:bldP spid="4" grpId="0"/>
      <p:bldP spid="5" grpId="0"/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2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>
            <a:extLst>
              <a:ext uri="{FF2B5EF4-FFF2-40B4-BE49-F238E27FC236}">
                <a16:creationId xmlns:a16="http://schemas.microsoft.com/office/drawing/2014/main" id="{9C5FFE10-BF97-488B-B188-65074DB057B5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>
              <a:defRPr sz="3450" b="1">
                <a:solidFill>
                  <a:srgbClr val="E6E0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E6E0E9"/>
                </a:solidFill>
                <a:latin typeface="Microsoft YaHei"/>
                <a:ea typeface="Microsoft YaHei"/>
                <a:cs typeface="Microsoft YaHei"/>
              </a:rPr>
              <a:t>当前支持与限制</a:t>
            </a:r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D9E3E749-844D-4050-9128-C34957E928FF}"/>
              </a:ext>
            </a:extLst>
          </p:cNvPr>
          <p:cNvSpPr>
            <a:spLocks noGrp="1"/>
          </p:cNvSpPr>
          <p:nvPr/>
        </p:nvSpPr>
        <p:spPr>
          <a:xfrm>
            <a:off x="609600" y="1238250"/>
            <a:ext cx="10934700" cy="4762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>
              <a:defRPr sz="1875" b="0">
                <a:solidFill>
                  <a:srgbClr val="CAC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CAC4D0"/>
                </a:solidFill>
                <a:latin typeface="Microsoft YaHei"/>
                <a:ea typeface="Microsoft YaHei"/>
                <a:cs typeface="Microsoft YaHei"/>
              </a:rPr>
              <a:t>0.12.0 产品预览版</a:t>
            </a:r>
          </a:p>
        </p:txBody>
      </p:sp>
      <p:sp>
        <p:nvSpPr>
          <p:cNvPr id="3" name="support-field">
            <a:extLst>
              <a:ext uri="{FF2B5EF4-FFF2-40B4-BE49-F238E27FC236}">
                <a16:creationId xmlns:a16="http://schemas.microsoft.com/office/drawing/2014/main" id="{7B462DB4-D2D7-4E5E-A8D6-8C41478B09A3}"/>
              </a:ext>
            </a:extLst>
          </p:cNvPr>
          <p:cNvSpPr>
            <a:spLocks noGrp="1"/>
          </p:cNvSpPr>
          <p:nvPr/>
        </p:nvSpPr>
        <p:spPr>
          <a:xfrm>
            <a:off x="609600" y="2133600"/>
            <a:ext cx="5219700" cy="3714750"/>
          </a:xfrm>
          <a:prstGeom prst="rect">
            <a:avLst/>
          </a:prstGeom>
          <a:solidFill>
            <a:srgbClr val="1D1B20"/>
          </a:solidFill>
          <a:ln w="0">
            <a:noFill/>
          </a:ln>
        </p:spPr>
      </p:sp>
      <p:sp>
        <p:nvSpPr>
          <p:cNvPr id="4" name="limits-field">
            <a:extLst>
              <a:ext uri="{FF2B5EF4-FFF2-40B4-BE49-F238E27FC236}">
                <a16:creationId xmlns:a16="http://schemas.microsoft.com/office/drawing/2014/main" id="{4B2DB6D1-ED44-42A4-9790-9C09CBA9E1C9}"/>
              </a:ext>
            </a:extLst>
          </p:cNvPr>
          <p:cNvSpPr>
            <a:spLocks noGrp="1"/>
          </p:cNvSpPr>
          <p:nvPr/>
        </p:nvSpPr>
        <p:spPr>
          <a:xfrm>
            <a:off x="6057900" y="2133600"/>
            <a:ext cx="5524500" cy="3714750"/>
          </a:xfrm>
          <a:prstGeom prst="rect">
            <a:avLst/>
          </a:prstGeom>
          <a:solidFill>
            <a:srgbClr val="211F26"/>
          </a:solidFill>
          <a:ln w="0">
            <a:noFill/>
          </a:ln>
        </p:spPr>
      </p:sp>
      <p:sp>
        <p:nvSpPr>
          <p:cNvPr id="5" name="support-heading">
            <a:extLst>
              <a:ext uri="{FF2B5EF4-FFF2-40B4-BE49-F238E27FC236}">
                <a16:creationId xmlns:a16="http://schemas.microsoft.com/office/drawing/2014/main" id="{407E9A43-610A-4D3E-9243-0DD65039957B}"/>
              </a:ext>
            </a:extLst>
          </p:cNvPr>
          <p:cNvSpPr>
            <a:spLocks noGrp="1"/>
          </p:cNvSpPr>
          <p:nvPr/>
        </p:nvSpPr>
        <p:spPr>
          <a:xfrm>
            <a:off x="895350" y="2438400"/>
            <a:ext cx="4476750" cy="561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>
              <a:defRPr sz="2700" b="1">
                <a:solidFill>
                  <a:srgbClr val="D0BC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D0BCFF"/>
                </a:solidFill>
                <a:latin typeface="Microsoft YaHei"/>
                <a:ea typeface="Microsoft YaHei"/>
                <a:cs typeface="Microsoft YaHei"/>
              </a:rPr>
              <a:t>已支持</a:t>
            </a:r>
          </a:p>
        </p:txBody>
      </p:sp>
      <p:sp>
        <p:nvSpPr>
          <p:cNvPr id="6" name="support-copy">
            <a:extLst>
              <a:ext uri="{FF2B5EF4-FFF2-40B4-BE49-F238E27FC236}">
                <a16:creationId xmlns:a16="http://schemas.microsoft.com/office/drawing/2014/main" id="{C3AA1A16-ED0F-4CEF-A676-2861E20756E6}"/>
              </a:ext>
            </a:extLst>
          </p:cNvPr>
          <p:cNvSpPr>
            <a:spLocks noGrp="1"/>
          </p:cNvSpPr>
          <p:nvPr/>
        </p:nvSpPr>
        <p:spPr>
          <a:xfrm>
            <a:off x="895350" y="3257550"/>
            <a:ext cx="4648200" cy="21050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>
              <a:defRPr sz="2025" b="0">
                <a:solidFill>
                  <a:srgbClr val="E6E0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E6E0E9"/>
                </a:solidFill>
                <a:latin typeface="Microsoft YaHei"/>
                <a:ea typeface="Microsoft YaHei"/>
                <a:cs typeface="Microsoft YaHei"/>
              </a:rPr>
              <a:t>无线画面接收</a:t>
            </a:r>
          </a:p>
          <a:p>
            <a:pPr>
              <a:defRPr sz="2025" b="0">
                <a:solidFill>
                  <a:srgbClr val="E6E0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E6E0E9"/>
                </a:solidFill>
                <a:latin typeface="Microsoft YaHei"/>
                <a:ea typeface="Microsoft YaHei"/>
                <a:cs typeface="Microsoft YaHei"/>
              </a:rPr>
              <a:t>单指触控与沉浸全屏</a:t>
            </a:r>
          </a:p>
          <a:p>
            <a:pPr>
              <a:defRPr sz="2025" b="0">
                <a:solidFill>
                  <a:srgbClr val="E6E0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E6E0E9"/>
                </a:solidFill>
                <a:latin typeface="Microsoft YaHei"/>
                <a:ea typeface="Microsoft YaHei"/>
                <a:cs typeface="Microsoft YaHei"/>
              </a:rPr>
              <a:t>屏幕比例适配</a:t>
            </a:r>
          </a:p>
          <a:p>
            <a:pPr>
              <a:defRPr sz="2025" b="0">
                <a:solidFill>
                  <a:srgbClr val="E6E0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E6E0E9"/>
                </a:solidFill>
                <a:latin typeface="Microsoft YaHei"/>
                <a:ea typeface="Microsoft YaHei"/>
                <a:cs typeface="Microsoft YaHei"/>
              </a:rPr>
              <a:t>配置保存与前台重试</a:t>
            </a:r>
          </a:p>
        </p:txBody>
      </p:sp>
      <p:sp>
        <p:nvSpPr>
          <p:cNvPr id="7" name="limits-heading">
            <a:extLst>
              <a:ext uri="{FF2B5EF4-FFF2-40B4-BE49-F238E27FC236}">
                <a16:creationId xmlns:a16="http://schemas.microsoft.com/office/drawing/2014/main" id="{7A17A399-C16D-4085-B573-15086BB15EF2}"/>
              </a:ext>
            </a:extLst>
          </p:cNvPr>
          <p:cNvSpPr>
            <a:spLocks noGrp="1"/>
          </p:cNvSpPr>
          <p:nvPr/>
        </p:nvSpPr>
        <p:spPr>
          <a:xfrm>
            <a:off x="6362700" y="2438400"/>
            <a:ext cx="4762500" cy="561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>
              <a:defRPr sz="2700" b="1">
                <a:solidFill>
                  <a:srgbClr val="F2B8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F2B8B5"/>
                </a:solidFill>
                <a:latin typeface="Microsoft YaHei"/>
                <a:ea typeface="Microsoft YaHei"/>
                <a:cs typeface="Microsoft YaHei"/>
              </a:rPr>
              <a:t>使用限制</a:t>
            </a:r>
          </a:p>
        </p:txBody>
      </p:sp>
      <p:sp>
        <p:nvSpPr>
          <p:cNvPr id="8" name="audio-limit">
            <a:extLst>
              <a:ext uri="{FF2B5EF4-FFF2-40B4-BE49-F238E27FC236}">
                <a16:creationId xmlns:a16="http://schemas.microsoft.com/office/drawing/2014/main" id="{7147D03A-FDF1-437C-9C33-513129F174EF}"/>
              </a:ext>
            </a:extLst>
          </p:cNvPr>
          <p:cNvSpPr>
            <a:spLocks noGrp="1"/>
          </p:cNvSpPr>
          <p:nvPr/>
        </p:nvSpPr>
        <p:spPr>
          <a:xfrm>
            <a:off x="6362700" y="3248025"/>
            <a:ext cx="4762500" cy="5143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>
              <a:defRPr sz="2250" b="1">
                <a:solidFill>
                  <a:srgbClr val="F2B8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2B8B5"/>
                </a:solidFill>
                <a:latin typeface="Microsoft YaHei"/>
                <a:ea typeface="Microsoft YaHei"/>
                <a:cs typeface="Microsoft YaHei"/>
              </a:rPr>
              <a:t>音频暂不可用</a:t>
            </a:r>
          </a:p>
        </p:txBody>
      </p:sp>
      <p:sp>
        <p:nvSpPr>
          <p:cNvPr id="9" name="foreground-limit">
            <a:extLst>
              <a:ext uri="{FF2B5EF4-FFF2-40B4-BE49-F238E27FC236}">
                <a16:creationId xmlns:a16="http://schemas.microsoft.com/office/drawing/2014/main" id="{50473612-87A2-4DAB-8A1C-977D4BA192F0}"/>
              </a:ext>
            </a:extLst>
          </p:cNvPr>
          <p:cNvSpPr>
            <a:spLocks noGrp="1"/>
          </p:cNvSpPr>
          <p:nvPr/>
        </p:nvSpPr>
        <p:spPr>
          <a:xfrm>
            <a:off x="6362700" y="3943350"/>
            <a:ext cx="4810125" cy="1485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>
              <a:defRPr sz="1800" b="0">
                <a:solidFill>
                  <a:srgbClr val="CAC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CAC4D0"/>
                </a:solidFill>
                <a:latin typeface="Microsoft YaHei"/>
                <a:ea typeface="Microsoft YaHei"/>
                <a:cs typeface="Microsoft YaHei"/>
              </a:rPr>
              <a:t>需保持应用前台</a:t>
            </a:r>
          </a:p>
          <a:p>
            <a:pPr>
              <a:defRPr sz="1800" b="0">
                <a:solidFill>
                  <a:srgbClr val="CAC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CAC4D0"/>
                </a:solidFill>
                <a:latin typeface="Microsoft YaHei"/>
                <a:ea typeface="Microsoft YaHei"/>
                <a:cs typeface="Microsoft YaHei"/>
              </a:rPr>
              <a:t>锁屏或切换应用会断开</a:t>
            </a:r>
          </a:p>
          <a:p>
            <a:pPr>
              <a:defRPr sz="1800" b="0">
                <a:solidFill>
                  <a:srgbClr val="CAC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CAC4D0"/>
                </a:solidFill>
                <a:latin typeface="Microsoft YaHei"/>
                <a:ea typeface="Microsoft YaHei"/>
                <a:cs typeface="Microsoft YaHei"/>
              </a:rPr>
              <a:t>麦克风、通话及 Siri 音频未实现</a:t>
            </a:r>
          </a:p>
        </p:txBody>
      </p:sp>
      <p:sp>
        <p:nvSpPr>
          <p:cNvPr id="10" name="devices">
            <a:extLst>
              <a:ext uri="{FF2B5EF4-FFF2-40B4-BE49-F238E27FC236}">
                <a16:creationId xmlns:a16="http://schemas.microsoft.com/office/drawing/2014/main" id="{EEB36D16-7D2B-4215-8370-0189045B6C2D}"/>
              </a:ext>
            </a:extLst>
          </p:cNvPr>
          <p:cNvSpPr>
            <a:spLocks noGrp="1"/>
          </p:cNvSpPr>
          <p:nvPr/>
        </p:nvSpPr>
        <p:spPr>
          <a:xfrm>
            <a:off x="895350" y="6162675"/>
            <a:ext cx="10763250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>
              <a:defRPr sz="1650" b="0">
                <a:solidFill>
                  <a:srgbClr val="CAC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CAC4D0"/>
                </a:solidFill>
                <a:latin typeface="Microsoft YaHei"/>
                <a:ea typeface="Microsoft YaHei"/>
                <a:cs typeface="Microsoft YaHei"/>
              </a:rPr>
              <a:t>本次验证：MatePad mini / HarmonyOS 7，iPhone 16 Pro / iOS 27</a:t>
            </a:r>
          </a:p>
        </p:txBody>
      </p:sp>
    </p:spTree>
    <p:extLst>
      <p:ext uri="{BB962C8B-B14F-4D97-AF65-F5344CB8AC3E}">
        <p14:creationId xmlns:p14="http://schemas.microsoft.com/office/powerpoint/2010/main" val="2307037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12000">
        <p:fade/>
      </p:transition>
    </mc:Choice>
    <mc:Fallback>
      <p:transition spd="med" advClick="0" advTm="1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accel="50000" decel="5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entr" presetSubtype="0" accel="50000" decel="5000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2" presetClass="entr" presetSubtype="0" accel="50000" decel="50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38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2" grpId="0"/>
      <p:bldP spid="5" grpId="0"/>
      <p:bldP spid="6" grpId="0"/>
      <p:bldP spid="7" grpId="0"/>
      <p:bldP spid="8" grpId="0"/>
      <p:bldP spid="9" grpId="0"/>
      <p:bldP spid="1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2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end-brand" descr="end-brand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76300" y="1104900"/>
            <a:ext cx="1009650" cy="1009650"/>
          </a:xfrm>
          <a:prstGeom prst="rect">
            <a:avLst/>
          </a:prstGeom>
        </p:spPr>
      </p:pic>
      <p:sp>
        <p:nvSpPr>
          <p:cNvPr id="2" name="end-title">
            <a:extLst>
              <a:ext uri="{FF2B5EF4-FFF2-40B4-BE49-F238E27FC236}">
                <a16:creationId xmlns:a16="http://schemas.microsoft.com/office/drawing/2014/main" id="{606E7BCD-F6FC-44E3-ABCE-CAB4FD62ADF9}"/>
              </a:ext>
            </a:extLst>
          </p:cNvPr>
          <p:cNvSpPr>
            <a:spLocks noGrp="1"/>
          </p:cNvSpPr>
          <p:nvPr/>
        </p:nvSpPr>
        <p:spPr>
          <a:xfrm>
            <a:off x="876300" y="2543175"/>
            <a:ext cx="10477500" cy="1066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>
              <a:defRPr sz="5400" b="1">
                <a:solidFill>
                  <a:srgbClr val="E6E0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400" b="1">
                <a:solidFill>
                  <a:srgbClr val="E6E0E9"/>
                </a:solidFill>
                <a:latin typeface="Microsoft YaHei"/>
                <a:ea typeface="Microsoft YaHei"/>
                <a:cs typeface="Microsoft YaHei"/>
              </a:rPr>
              <a:t>DiPlay Harmony</a:t>
            </a:r>
          </a:p>
        </p:txBody>
      </p:sp>
      <p:sp>
        <p:nvSpPr>
          <p:cNvPr id="3" name="end-copy">
            <a:extLst>
              <a:ext uri="{FF2B5EF4-FFF2-40B4-BE49-F238E27FC236}">
                <a16:creationId xmlns:a16="http://schemas.microsoft.com/office/drawing/2014/main" id="{15ACEF4B-FF7D-4327-AE1C-78E46457CE80}"/>
              </a:ext>
            </a:extLst>
          </p:cNvPr>
          <p:cNvSpPr>
            <a:spLocks noGrp="1"/>
          </p:cNvSpPr>
          <p:nvPr/>
        </p:nvSpPr>
        <p:spPr>
          <a:xfrm>
            <a:off x="895350" y="4038600"/>
            <a:ext cx="10477500" cy="704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>
              <a:defRPr sz="3000" b="0">
                <a:solidFill>
                  <a:srgbClr val="D0BC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0">
                <a:solidFill>
                  <a:srgbClr val="D0BCFF"/>
                </a:solidFill>
                <a:latin typeface="Microsoft YaHei"/>
                <a:ea typeface="Microsoft YaHei"/>
                <a:cs typeface="Microsoft YaHei"/>
              </a:rPr>
              <a:t>让平板成为 CarPlay 显示屏</a:t>
            </a:r>
          </a:p>
        </p:txBody>
      </p:sp>
      <p:sp>
        <p:nvSpPr>
          <p:cNvPr id="4" name="end-version">
            <a:extLst>
              <a:ext uri="{FF2B5EF4-FFF2-40B4-BE49-F238E27FC236}">
                <a16:creationId xmlns:a16="http://schemas.microsoft.com/office/drawing/2014/main" id="{44311318-878F-4F25-AC1C-5DE95211E333}"/>
              </a:ext>
            </a:extLst>
          </p:cNvPr>
          <p:cNvSpPr>
            <a:spLocks noGrp="1"/>
          </p:cNvSpPr>
          <p:nvPr/>
        </p:nvSpPr>
        <p:spPr>
          <a:xfrm>
            <a:off x="895350" y="5314950"/>
            <a:ext cx="1047750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>
              <a:defRPr sz="1950" b="0">
                <a:solidFill>
                  <a:srgbClr val="CAC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CAC4D0"/>
                </a:solidFill>
                <a:latin typeface="Microsoft YaHei"/>
                <a:ea typeface="Microsoft YaHei"/>
                <a:cs typeface="Microsoft YaHei"/>
              </a:rPr>
              <a:t>0.12.0 产品预览版</a:t>
            </a:r>
          </a:p>
        </p:txBody>
      </p:sp>
      <p:sp>
        <p:nvSpPr>
          <p:cNvPr id="5" name="end-credit">
            <a:extLst>
              <a:ext uri="{FF2B5EF4-FFF2-40B4-BE49-F238E27FC236}">
                <a16:creationId xmlns:a16="http://schemas.microsoft.com/office/drawing/2014/main" id="{4F17366E-05A0-4F40-8894-194711E90BE2}"/>
              </a:ext>
            </a:extLst>
          </p:cNvPr>
          <p:cNvSpPr>
            <a:spLocks noGrp="1"/>
          </p:cNvSpPr>
          <p:nvPr/>
        </p:nvSpPr>
        <p:spPr>
          <a:xfrm>
            <a:off x="895350" y="6057900"/>
            <a:ext cx="10668000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>
              <a:defRPr sz="1575" b="0">
                <a:solidFill>
                  <a:srgbClr val="CAC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CAC4D0"/>
                </a:solidFill>
                <a:latin typeface="Microsoft YaHei"/>
                <a:ea typeface="Microsoft YaHei"/>
                <a:cs typeface="Microsoft YaHei"/>
              </a:rPr>
              <a:t>基于 DiPlay 协议研究的鸿蒙移植工程，遵循 GPL-3.0</a:t>
            </a:r>
          </a:p>
        </p:txBody>
      </p:sp>
    </p:spTree>
    <p:extLst>
      <p:ext uri="{BB962C8B-B14F-4D97-AF65-F5344CB8AC3E}">
        <p14:creationId xmlns:p14="http://schemas.microsoft.com/office/powerpoint/2010/main" val="19796175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7000">
        <p:fade/>
      </p:transition>
    </mc:Choice>
    <mc:Fallback>
      <p:transition spd="med" advClick="0" advTm="7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8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8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8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42" presetClass="entr" presetSubtype="0" accel="50000" decel="5000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</p:bldLst>
  </p:timing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1149</Words>
  <Application>Microsoft Office PowerPoint</Application>
  <DocSecurity>0</DocSecurity>
  <PresentationFormat>宽屏</PresentationFormat>
  <Paragraphs>146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5" baseType="lpstr">
      <vt:lpstr>Microsoft YaHei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DiPlay Harmony</dc:title>
  <dc:creator>DiPlay Harmony</dc:creator>
  <cp:lastModifiedBy>DiPlay Harmony</cp:lastModifiedBy>
  <cp:revision>1</cp:revision>
  <dcterms:created xsi:type="dcterms:W3CDTF">2026-10-05T23:32:47Z</dcterms:created>
  <dcterms:modified xsi:type="dcterms:W3CDTF">2026-10-05T23:33:36Z</dcterms:modified>
</cp:coreProperties>
</file>